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3"/>
  </p:notesMasterIdLst>
  <p:handoutMasterIdLst>
    <p:handoutMasterId r:id="rId24"/>
  </p:handout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1" r:id="rId14"/>
    <p:sldId id="272" r:id="rId15"/>
    <p:sldId id="273" r:id="rId16"/>
    <p:sldId id="274" r:id="rId17"/>
    <p:sldId id="275" r:id="rId18"/>
    <p:sldId id="276" r:id="rId19"/>
    <p:sldId id="277" r:id="rId20"/>
    <p:sldId id="278" r:id="rId21"/>
    <p:sldId id="280" r:id="rId22"/>
  </p:sldIdLst>
  <p:sldSz cx="12192000" cy="6858000"/>
  <p:notesSz cx="6858000" cy="9144000"/>
  <p:defaultTextStyle>
    <a:defPPr rtl="0">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F2B2E4-894C-43E7-89B7-DDC6FC4B8DBA}" v="230" dt="2026-03-21T20:30:09.946"/>
    <p1510:client id="{E7F603C9-AC8E-4372-A778-653E01A97E0A}" v="34" dt="2026-03-21T11:58:17.331"/>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9" autoAdjust="0"/>
    <p:restoredTop sz="94708" autoAdjust="0"/>
  </p:normalViewPr>
  <p:slideViewPr>
    <p:cSldViewPr snapToGrid="0">
      <p:cViewPr varScale="1">
        <p:scale>
          <a:sx n="145" d="100"/>
          <a:sy n="145" d="100"/>
        </p:scale>
        <p:origin x="132" y="240"/>
      </p:cViewPr>
      <p:guideLst>
        <p:guide orient="horz" pos="2160"/>
        <p:guide pos="3840"/>
      </p:guideLst>
    </p:cSldViewPr>
  </p:slideViewPr>
  <p:outlineViewPr>
    <p:cViewPr>
      <p:scale>
        <a:sx n="33" d="100"/>
        <a:sy n="33" d="100"/>
      </p:scale>
      <p:origin x="0" y="202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942523F0-2ABE-42BC-B8DE-121F5EE7F525}">
      <dgm:prSet custT="1"/>
      <dgm:spPr/>
      <dgm:t>
        <a:bodyPr/>
        <a:lstStyle/>
        <a:p>
          <a:pPr>
            <a:buNone/>
          </a:pPr>
          <a:r>
            <a:rPr lang="it-IT" sz="2000" b="1"/>
            <a:t>Ruoli nel gruppo</a:t>
          </a:r>
        </a:p>
      </dgm:t>
    </dgm:pt>
    <dgm:pt modelId="{FD6A9107-2E8E-432E-AD91-BDB6C42DD57F}" type="parTrans" cxnId="{BF9D22A2-7AEC-4660-89DE-5BAC7B306E49}">
      <dgm:prSet/>
      <dgm:spPr/>
      <dgm:t>
        <a:bodyPr/>
        <a:lstStyle/>
        <a:p>
          <a:endParaRPr lang="it-IT"/>
        </a:p>
      </dgm:t>
    </dgm:pt>
    <dgm:pt modelId="{C0CF906A-AF77-4378-8EAC-CB639CF027BC}" type="sibTrans" cxnId="{BF9D22A2-7AEC-4660-89DE-5BAC7B306E49}">
      <dgm:prSet/>
      <dgm:spPr/>
      <dgm:t>
        <a:bodyPr/>
        <a:lstStyle/>
        <a:p>
          <a:endParaRPr lang="it-IT"/>
        </a:p>
      </dgm:t>
    </dgm:pt>
    <dgm:pt modelId="{F0ED10C9-ACE8-44F3-A8EA-82AEB44707D6}">
      <dgm:prSet custT="1"/>
      <dgm:spPr/>
      <dgm:t>
        <a:bodyPr/>
        <a:lstStyle/>
        <a:p>
          <a:pPr rtl="0">
            <a:buFont typeface="+mj-lt"/>
            <a:buAutoNum type="arabicPeriod"/>
          </a:pPr>
          <a:r>
            <a:rPr lang="it-IT" sz="1800" b="0">
              <a:latin typeface="Franklin Gothic Demi" panose="020B0502020104020203"/>
            </a:rPr>
            <a:t>DATA PREPARER</a:t>
          </a:r>
          <a:r>
            <a:rPr lang="it-IT" sz="1800"/>
            <a:t> – </a:t>
          </a:r>
          <a:r>
            <a:rPr lang="it-IT" sz="1800" err="1"/>
            <a:t>Michelapia</a:t>
          </a:r>
          <a:r>
            <a:rPr lang="it-IT" sz="1800"/>
            <a:t> Gaggiano</a:t>
          </a:r>
        </a:p>
      </dgm:t>
    </dgm:pt>
    <dgm:pt modelId="{98023F4F-5DE8-4795-AD36-013109AA8FC6}" type="parTrans" cxnId="{C49638A0-AA48-45C3-A481-DDAAD4AF8B8E}">
      <dgm:prSet/>
      <dgm:spPr/>
      <dgm:t>
        <a:bodyPr/>
        <a:lstStyle/>
        <a:p>
          <a:endParaRPr lang="it-IT"/>
        </a:p>
      </dgm:t>
    </dgm:pt>
    <dgm:pt modelId="{0C3DC6B5-7AD5-41E4-81C1-DF244E95D3E2}" type="sibTrans" cxnId="{C49638A0-AA48-45C3-A481-DDAAD4AF8B8E}">
      <dgm:prSet/>
      <dgm:spPr/>
      <dgm:t>
        <a:bodyPr/>
        <a:lstStyle/>
        <a:p>
          <a:endParaRPr lang="it-IT"/>
        </a:p>
      </dgm:t>
    </dgm:pt>
    <dgm:pt modelId="{E14F4E59-C8CB-495F-AAFA-025581816580}">
      <dgm:prSet custT="1"/>
      <dgm:spPr/>
      <dgm:t>
        <a:bodyPr/>
        <a:lstStyle/>
        <a:p>
          <a:pPr rtl="0">
            <a:buFont typeface="+mj-lt"/>
            <a:buAutoNum type="arabicPeriod"/>
          </a:pPr>
          <a:r>
            <a:rPr lang="it-IT" sz="1800" b="1">
              <a:latin typeface="Franklin Gothic Demi" panose="020B0502020104020203"/>
            </a:rPr>
            <a:t>DATA MODELER</a:t>
          </a:r>
          <a:r>
            <a:rPr lang="it-IT" sz="1800"/>
            <a:t> – Ilaria Martelli</a:t>
          </a:r>
        </a:p>
      </dgm:t>
    </dgm:pt>
    <dgm:pt modelId="{96EC6DC3-5BE8-4352-AAFA-19B2D2CDABE6}" type="parTrans" cxnId="{601BCEA9-1DF8-48D7-A4F4-6DDBBB1625EE}">
      <dgm:prSet/>
      <dgm:spPr/>
      <dgm:t>
        <a:bodyPr/>
        <a:lstStyle/>
        <a:p>
          <a:endParaRPr lang="it-IT"/>
        </a:p>
      </dgm:t>
    </dgm:pt>
    <dgm:pt modelId="{4DF69683-6F5C-4965-82C5-19021120E5DD}" type="sibTrans" cxnId="{601BCEA9-1DF8-48D7-A4F4-6DDBBB1625EE}">
      <dgm:prSet/>
      <dgm:spPr/>
      <dgm:t>
        <a:bodyPr/>
        <a:lstStyle/>
        <a:p>
          <a:endParaRPr lang="it-IT"/>
        </a:p>
      </dgm:t>
    </dgm:pt>
    <dgm:pt modelId="{3EA29444-6792-497F-90BC-2BC33C576D99}">
      <dgm:prSet custT="1"/>
      <dgm:spPr/>
      <dgm:t>
        <a:bodyPr/>
        <a:lstStyle/>
        <a:p>
          <a:pPr rtl="0">
            <a:buFont typeface="+mj-lt"/>
            <a:buAutoNum type="arabicPeriod"/>
          </a:pPr>
          <a:r>
            <a:rPr lang="it-IT" sz="1800" b="1">
              <a:latin typeface="Franklin Gothic Demi" panose="020B0502020104020203"/>
            </a:rPr>
            <a:t>REPORT</a:t>
          </a:r>
          <a:r>
            <a:rPr lang="it-IT" sz="1800" b="1"/>
            <a:t> </a:t>
          </a:r>
          <a:r>
            <a:rPr lang="it-IT" sz="1800" b="1">
              <a:latin typeface="Franklin Gothic Demi" panose="020B0502020104020203"/>
            </a:rPr>
            <a:t>DESIGNER </a:t>
          </a:r>
          <a:r>
            <a:rPr lang="it-IT" sz="1800" b="1"/>
            <a:t>(</a:t>
          </a:r>
          <a:r>
            <a:rPr lang="it-IT" sz="1800" b="0">
              <a:latin typeface="Franklin Gothic Demi" panose="020B0502020104020203"/>
            </a:rPr>
            <a:t>Ricavi</a:t>
          </a:r>
          <a:r>
            <a:rPr lang="it-IT" sz="1800" b="1"/>
            <a:t>)</a:t>
          </a:r>
          <a:r>
            <a:rPr lang="it-IT" sz="1800"/>
            <a:t> – Andrea </a:t>
          </a:r>
          <a:r>
            <a:rPr lang="it-IT" sz="1800" err="1"/>
            <a:t>Ropa</a:t>
          </a:r>
          <a:endParaRPr lang="it-IT" sz="1800"/>
        </a:p>
      </dgm:t>
    </dgm:pt>
    <dgm:pt modelId="{C2194E8C-FB25-46BE-BD8A-A8EEAAB4B89B}" type="parTrans" cxnId="{9B946AD0-AE3B-4A49-B075-48CE86EB99BC}">
      <dgm:prSet/>
      <dgm:spPr/>
      <dgm:t>
        <a:bodyPr/>
        <a:lstStyle/>
        <a:p>
          <a:endParaRPr lang="it-IT"/>
        </a:p>
      </dgm:t>
    </dgm:pt>
    <dgm:pt modelId="{E58051B7-6F7C-40D2-9CD2-C7F931A563E6}" type="sibTrans" cxnId="{9B946AD0-AE3B-4A49-B075-48CE86EB99BC}">
      <dgm:prSet/>
      <dgm:spPr/>
      <dgm:t>
        <a:bodyPr/>
        <a:lstStyle/>
        <a:p>
          <a:endParaRPr lang="it-IT"/>
        </a:p>
      </dgm:t>
    </dgm:pt>
    <dgm:pt modelId="{E6CF8FCB-6B7D-4659-B4DF-3B9E319AC2C6}">
      <dgm:prSet custT="1"/>
      <dgm:spPr/>
      <dgm:t>
        <a:bodyPr/>
        <a:lstStyle/>
        <a:p>
          <a:pPr rtl="0">
            <a:buFont typeface="+mj-lt"/>
            <a:buAutoNum type="arabicPeriod"/>
          </a:pPr>
          <a:r>
            <a:rPr lang="it-IT" sz="1800" b="1">
              <a:latin typeface="Franklin Gothic Demi" panose="020B0502020104020203"/>
            </a:rPr>
            <a:t>REPORT</a:t>
          </a:r>
          <a:r>
            <a:rPr lang="it-IT" sz="1800" b="1"/>
            <a:t> </a:t>
          </a:r>
          <a:r>
            <a:rPr lang="it-IT" sz="1800" b="1">
              <a:latin typeface="Franklin Gothic Demi" panose="020B0502020104020203"/>
            </a:rPr>
            <a:t>DESIGNER </a:t>
          </a:r>
          <a:r>
            <a:rPr lang="it-IT" sz="1800" b="1"/>
            <a:t>(</a:t>
          </a:r>
          <a:r>
            <a:rPr lang="it-IT" sz="1800" b="1">
              <a:latin typeface="Franklin Gothic Demi" panose="020B0502020104020203"/>
            </a:rPr>
            <a:t>Clienti</a:t>
          </a:r>
          <a:r>
            <a:rPr lang="it-IT" sz="1800" b="1"/>
            <a:t>)</a:t>
          </a:r>
          <a:r>
            <a:rPr lang="it-IT" sz="1800"/>
            <a:t> – Daniele Mangione</a:t>
          </a:r>
        </a:p>
      </dgm:t>
    </dgm:pt>
    <dgm:pt modelId="{E2D1A8FB-F2DD-4227-BBB3-A1944A156A0A}" type="parTrans" cxnId="{2B465C52-BF6D-4D4D-A517-97AC0FDBF4A3}">
      <dgm:prSet/>
      <dgm:spPr/>
      <dgm:t>
        <a:bodyPr/>
        <a:lstStyle/>
        <a:p>
          <a:endParaRPr lang="it-IT"/>
        </a:p>
      </dgm:t>
    </dgm:pt>
    <dgm:pt modelId="{C56F3308-645A-40A9-9D49-9B4F3BDD4F9D}" type="sibTrans" cxnId="{2B465C52-BF6D-4D4D-A517-97AC0FDBF4A3}">
      <dgm:prSet/>
      <dgm:spPr/>
      <dgm:t>
        <a:bodyPr/>
        <a:lstStyle/>
        <a:p>
          <a:endParaRPr lang="it-IT"/>
        </a:p>
      </dgm:t>
    </dgm:pt>
    <dgm:pt modelId="{814B7E53-5BAD-4CAB-AF8E-6C56DC537EBB}">
      <dgm:prSet custT="1"/>
      <dgm:spPr/>
      <dgm:t>
        <a:bodyPr/>
        <a:lstStyle/>
        <a:p>
          <a:pPr rtl="0">
            <a:buFont typeface="+mj-lt"/>
            <a:buAutoNum type="arabicPeriod"/>
          </a:pPr>
          <a:r>
            <a:rPr lang="en-US" sz="1800" b="1" dirty="0">
              <a:latin typeface="Franklin Gothic Demi" panose="020B0502020104020203"/>
            </a:rPr>
            <a:t>REPORT</a:t>
          </a:r>
          <a:r>
            <a:rPr lang="en-US" sz="1800" b="1" dirty="0"/>
            <a:t> </a:t>
          </a:r>
          <a:r>
            <a:rPr lang="en-US" sz="1800" b="1" dirty="0">
              <a:latin typeface="Franklin Gothic Demi" panose="020B0502020104020203"/>
            </a:rPr>
            <a:t>DESIGNER </a:t>
          </a:r>
          <a:r>
            <a:rPr lang="en-US" sz="1800" b="1" dirty="0"/>
            <a:t>(</a:t>
          </a:r>
          <a:r>
            <a:rPr lang="en-US" sz="1800" b="1" dirty="0">
              <a:latin typeface="Franklin Gothic Demi" panose="020B0502020104020203"/>
            </a:rPr>
            <a:t>User Interactions</a:t>
          </a:r>
          <a:r>
            <a:rPr lang="en-US" sz="1800" b="1" dirty="0"/>
            <a:t>)</a:t>
          </a:r>
          <a:r>
            <a:rPr lang="en-US" sz="1800" dirty="0"/>
            <a:t> – Marianna Merli</a:t>
          </a:r>
          <a:endParaRPr lang="it-IT" sz="1800" dirty="0"/>
        </a:p>
      </dgm:t>
    </dgm:pt>
    <dgm:pt modelId="{99C491F3-B086-4CF7-9D11-A65353D45B3B}" type="parTrans" cxnId="{6FB867A3-28E1-4971-B184-373EB8EE5924}">
      <dgm:prSet/>
      <dgm:spPr/>
      <dgm:t>
        <a:bodyPr/>
        <a:lstStyle/>
        <a:p>
          <a:endParaRPr lang="it-IT"/>
        </a:p>
      </dgm:t>
    </dgm:pt>
    <dgm:pt modelId="{A3688D3C-C7E3-4A44-A2E9-5F3545BE7DEF}" type="sibTrans" cxnId="{6FB867A3-28E1-4971-B184-373EB8EE5924}">
      <dgm:prSet/>
      <dgm:spPr/>
      <dgm:t>
        <a:bodyPr/>
        <a:lstStyle/>
        <a:p>
          <a:endParaRPr lang="it-IT"/>
        </a:p>
      </dgm:t>
    </dgm:pt>
    <dgm:pt modelId="{AB52B3CC-6563-466D-BFC3-9B6B5AFA0881}" type="pres">
      <dgm:prSet presAssocID="{6A70FD8F-0050-42E3-8B3A-6ED7CFB9852E}" presName="Name0" presStyleCnt="0">
        <dgm:presLayoutVars>
          <dgm:chMax/>
          <dgm:chPref/>
          <dgm:animLvl val="lvl"/>
        </dgm:presLayoutVars>
      </dgm:prSet>
      <dgm:spPr/>
    </dgm:pt>
    <dgm:pt modelId="{9339A10A-9C60-4597-8DEE-7789F80A98B2}" type="pres">
      <dgm:prSet presAssocID="{942523F0-2ABE-42BC-B8DE-121F5EE7F525}" presName="composite" presStyleCnt="0"/>
      <dgm:spPr/>
    </dgm:pt>
    <dgm:pt modelId="{B0C8DAFE-FE6D-49A5-9FD5-C88100489A1A}" type="pres">
      <dgm:prSet presAssocID="{942523F0-2ABE-42BC-B8DE-121F5EE7F525}" presName="parent" presStyleLbl="alignNode1" presStyleIdx="0" presStyleCnt="1" custLinFactY="-121149" custLinFactNeighborX="0" custLinFactNeighborY="-200000">
        <dgm:presLayoutVars>
          <dgm:chMax val="1"/>
          <dgm:chPref val="1"/>
          <dgm:bulletEnabled val="1"/>
        </dgm:presLayoutVars>
      </dgm:prSet>
      <dgm:spPr/>
    </dgm:pt>
    <dgm:pt modelId="{BDAE6A49-E2B0-49C9-9F7F-C606306E5E69}" type="pres">
      <dgm:prSet presAssocID="{942523F0-2ABE-42BC-B8DE-121F5EE7F525}" presName="Childtext" presStyleLbl="revTx" presStyleIdx="0" presStyleCnt="1" custLinFactY="35366" custLinFactNeighborY="100000">
        <dgm:presLayoutVars>
          <dgm:bulletEnabled val="1"/>
        </dgm:presLayoutVars>
      </dgm:prSet>
      <dgm:spPr/>
    </dgm:pt>
    <dgm:pt modelId="{7BA99F82-2051-4D04-9497-276C3F7320FE}" type="pres">
      <dgm:prSet presAssocID="{942523F0-2ABE-42BC-B8DE-121F5EE7F525}" presName="ConnectLine" presStyleLbl="sibTrans1D1" presStyleIdx="0" presStyleCnt="1"/>
      <dgm:spPr>
        <a:noFill/>
        <a:ln w="12700" cap="rnd" cmpd="sng" algn="ctr">
          <a:solidFill>
            <a:schemeClr val="accent1">
              <a:shade val="90000"/>
              <a:hueOff val="0"/>
              <a:satOff val="0"/>
              <a:lumOff val="0"/>
              <a:alphaOff val="0"/>
            </a:schemeClr>
          </a:solidFill>
          <a:prstDash val="dash"/>
        </a:ln>
        <a:effectLst/>
      </dgm:spPr>
    </dgm:pt>
    <dgm:pt modelId="{52DBA606-0ABE-4CCE-9656-D5FFB9D29AFE}" type="pres">
      <dgm:prSet presAssocID="{942523F0-2ABE-42BC-B8DE-121F5EE7F525}" presName="ConnectLineEnd" presStyleLbl="lnNode1" presStyleIdx="0" presStyleCnt="1"/>
      <dgm:spPr/>
    </dgm:pt>
    <dgm:pt modelId="{1B3FF999-202C-4510-A787-6B39B12C7C9F}" type="pres">
      <dgm:prSet presAssocID="{942523F0-2ABE-42BC-B8DE-121F5EE7F525}" presName="EmptyPane" presStyleCnt="0"/>
      <dgm:spPr/>
    </dgm:pt>
  </dgm:ptLst>
  <dgm:cxnLst>
    <dgm:cxn modelId="{84C67813-55CE-4EBC-9032-03BD847DC17E}" type="presOf" srcId="{6A70FD8F-0050-42E3-8B3A-6ED7CFB9852E}" destId="{AB52B3CC-6563-466D-BFC3-9B6B5AFA0881}" srcOrd="0" destOrd="0" presId="urn:microsoft.com/office/officeart/2016/7/layout/RoundedRectangleTimeline"/>
    <dgm:cxn modelId="{67C93D61-2F57-4216-8F6C-5F1D9A861536}" type="presOf" srcId="{3EA29444-6792-497F-90BC-2BC33C576D99}" destId="{BDAE6A49-E2B0-49C9-9F7F-C606306E5E69}" srcOrd="0" destOrd="2" presId="urn:microsoft.com/office/officeart/2016/7/layout/RoundedRectangleTimeline"/>
    <dgm:cxn modelId="{6390C26F-FC2E-47F4-AAB3-5F5026D688DF}" type="presOf" srcId="{E6CF8FCB-6B7D-4659-B4DF-3B9E319AC2C6}" destId="{BDAE6A49-E2B0-49C9-9F7F-C606306E5E69}" srcOrd="0" destOrd="3" presId="urn:microsoft.com/office/officeart/2016/7/layout/RoundedRectangleTimeline"/>
    <dgm:cxn modelId="{2B465C52-BF6D-4D4D-A517-97AC0FDBF4A3}" srcId="{942523F0-2ABE-42BC-B8DE-121F5EE7F525}" destId="{E6CF8FCB-6B7D-4659-B4DF-3B9E319AC2C6}" srcOrd="3" destOrd="0" parTransId="{E2D1A8FB-F2DD-4227-BBB3-A1944A156A0A}" sibTransId="{C56F3308-645A-40A9-9D49-9B4F3BDD4F9D}"/>
    <dgm:cxn modelId="{C69F3D7A-4B16-4E88-96D2-C55029ACD14A}" type="presOf" srcId="{E14F4E59-C8CB-495F-AAFA-025581816580}" destId="{BDAE6A49-E2B0-49C9-9F7F-C606306E5E69}" srcOrd="0" destOrd="1" presId="urn:microsoft.com/office/officeart/2016/7/layout/RoundedRectangleTimeline"/>
    <dgm:cxn modelId="{28352A7D-7DB4-40BB-8CB5-C13FC3D898ED}" type="presOf" srcId="{814B7E53-5BAD-4CAB-AF8E-6C56DC537EBB}" destId="{BDAE6A49-E2B0-49C9-9F7F-C606306E5E69}" srcOrd="0" destOrd="4" presId="urn:microsoft.com/office/officeart/2016/7/layout/RoundedRectangleTimeline"/>
    <dgm:cxn modelId="{C49638A0-AA48-45C3-A481-DDAAD4AF8B8E}" srcId="{942523F0-2ABE-42BC-B8DE-121F5EE7F525}" destId="{F0ED10C9-ACE8-44F3-A8EA-82AEB44707D6}" srcOrd="0" destOrd="0" parTransId="{98023F4F-5DE8-4795-AD36-013109AA8FC6}" sibTransId="{0C3DC6B5-7AD5-41E4-81C1-DF244E95D3E2}"/>
    <dgm:cxn modelId="{BF9D22A2-7AEC-4660-89DE-5BAC7B306E49}" srcId="{6A70FD8F-0050-42E3-8B3A-6ED7CFB9852E}" destId="{942523F0-2ABE-42BC-B8DE-121F5EE7F525}" srcOrd="0" destOrd="0" parTransId="{FD6A9107-2E8E-432E-AD91-BDB6C42DD57F}" sibTransId="{C0CF906A-AF77-4378-8EAC-CB639CF027BC}"/>
    <dgm:cxn modelId="{6FB867A3-28E1-4971-B184-373EB8EE5924}" srcId="{942523F0-2ABE-42BC-B8DE-121F5EE7F525}" destId="{814B7E53-5BAD-4CAB-AF8E-6C56DC537EBB}" srcOrd="4" destOrd="0" parTransId="{99C491F3-B086-4CF7-9D11-A65353D45B3B}" sibTransId="{A3688D3C-C7E3-4A44-A2E9-5F3545BE7DEF}"/>
    <dgm:cxn modelId="{F50DCBA3-18F8-4743-82F3-B96D6741A451}" type="presOf" srcId="{F0ED10C9-ACE8-44F3-A8EA-82AEB44707D6}" destId="{BDAE6A49-E2B0-49C9-9F7F-C606306E5E69}" srcOrd="0" destOrd="0" presId="urn:microsoft.com/office/officeart/2016/7/layout/RoundedRectangleTimeline"/>
    <dgm:cxn modelId="{601BCEA9-1DF8-48D7-A4F4-6DDBBB1625EE}" srcId="{942523F0-2ABE-42BC-B8DE-121F5EE7F525}" destId="{E14F4E59-C8CB-495F-AAFA-025581816580}" srcOrd="1" destOrd="0" parTransId="{96EC6DC3-5BE8-4352-AAFA-19B2D2CDABE6}" sibTransId="{4DF69683-6F5C-4965-82C5-19021120E5DD}"/>
    <dgm:cxn modelId="{EB0045D0-97BC-4727-85F1-B0240603783F}" type="presOf" srcId="{942523F0-2ABE-42BC-B8DE-121F5EE7F525}" destId="{B0C8DAFE-FE6D-49A5-9FD5-C88100489A1A}" srcOrd="0" destOrd="0" presId="urn:microsoft.com/office/officeart/2016/7/layout/RoundedRectangleTimeline"/>
    <dgm:cxn modelId="{9B946AD0-AE3B-4A49-B075-48CE86EB99BC}" srcId="{942523F0-2ABE-42BC-B8DE-121F5EE7F525}" destId="{3EA29444-6792-497F-90BC-2BC33C576D99}" srcOrd="2" destOrd="0" parTransId="{C2194E8C-FB25-46BE-BD8A-A8EEAAB4B89B}" sibTransId="{E58051B7-6F7C-40D2-9CD2-C7F931A563E6}"/>
    <dgm:cxn modelId="{34FEF23C-4A78-410E-9195-936DB909B963}" type="presParOf" srcId="{AB52B3CC-6563-466D-BFC3-9B6B5AFA0881}" destId="{9339A10A-9C60-4597-8DEE-7789F80A98B2}" srcOrd="0" destOrd="0" presId="urn:microsoft.com/office/officeart/2016/7/layout/RoundedRectangleTimeline"/>
    <dgm:cxn modelId="{97C3F744-FBE3-43F8-9B13-C091D0C9B9FD}" type="presParOf" srcId="{9339A10A-9C60-4597-8DEE-7789F80A98B2}" destId="{B0C8DAFE-FE6D-49A5-9FD5-C88100489A1A}" srcOrd="0" destOrd="0" presId="urn:microsoft.com/office/officeart/2016/7/layout/RoundedRectangleTimeline"/>
    <dgm:cxn modelId="{7F3E423C-0FEF-42D6-825F-44A7F8323FE6}" type="presParOf" srcId="{9339A10A-9C60-4597-8DEE-7789F80A98B2}" destId="{BDAE6A49-E2B0-49C9-9F7F-C606306E5E69}" srcOrd="1" destOrd="0" presId="urn:microsoft.com/office/officeart/2016/7/layout/RoundedRectangleTimeline"/>
    <dgm:cxn modelId="{29D6DDA1-C591-4071-AA61-6675DB3001E3}" type="presParOf" srcId="{9339A10A-9C60-4597-8DEE-7789F80A98B2}" destId="{7BA99F82-2051-4D04-9497-276C3F7320FE}" srcOrd="2" destOrd="0" presId="urn:microsoft.com/office/officeart/2016/7/layout/RoundedRectangleTimeline"/>
    <dgm:cxn modelId="{6D2AF22B-6458-4446-8DF7-63F5B013A6D1}" type="presParOf" srcId="{9339A10A-9C60-4597-8DEE-7789F80A98B2}" destId="{52DBA606-0ABE-4CCE-9656-D5FFB9D29AFE}" srcOrd="3" destOrd="0" presId="urn:microsoft.com/office/officeart/2016/7/layout/RoundedRectangleTimeline"/>
    <dgm:cxn modelId="{0824946D-7AF4-4FB8-8BFE-147A0B01DD2E}" type="presParOf" srcId="{9339A10A-9C60-4597-8DEE-7789F80A98B2}" destId="{1B3FF999-202C-4510-A787-6B39B12C7C9F}"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942523F0-2ABE-42BC-B8DE-121F5EE7F525}">
      <dgm:prSet custT="1"/>
      <dgm:spPr/>
      <dgm:t>
        <a:bodyPr/>
        <a:lstStyle/>
        <a:p>
          <a:pPr rtl="0">
            <a:buNone/>
          </a:pPr>
          <a:r>
            <a:rPr lang="it-IT" sz="2000" b="0" dirty="0">
              <a:latin typeface="Franklin Gothic Demi" panose="020B0502020104020203"/>
            </a:rPr>
            <a:t>Data </a:t>
          </a:r>
          <a:r>
            <a:rPr lang="it-IT" sz="2000" b="0" dirty="0" err="1">
              <a:latin typeface="Franklin Gothic Demi" panose="020B0502020104020203"/>
            </a:rPr>
            <a:t>Categorization</a:t>
          </a:r>
          <a:r>
            <a:rPr lang="it-IT" sz="2000" b="0" dirty="0">
              <a:latin typeface="Franklin Gothic Demi" panose="020B0502020104020203"/>
            </a:rPr>
            <a:t> e Update </a:t>
          </a:r>
          <a:r>
            <a:rPr lang="it-IT" sz="2000" b="0" dirty="0" err="1">
              <a:latin typeface="Franklin Gothic Demi" panose="020B0502020104020203"/>
            </a:rPr>
            <a:t>properties</a:t>
          </a:r>
          <a:endParaRPr lang="it-IT" sz="2000" b="0" dirty="0"/>
        </a:p>
      </dgm:t>
    </dgm:pt>
    <dgm:pt modelId="{FD6A9107-2E8E-432E-AD91-BDB6C42DD57F}" type="parTrans" cxnId="{BF9D22A2-7AEC-4660-89DE-5BAC7B306E49}">
      <dgm:prSet/>
      <dgm:spPr/>
      <dgm:t>
        <a:bodyPr/>
        <a:lstStyle/>
        <a:p>
          <a:endParaRPr lang="it-IT"/>
        </a:p>
      </dgm:t>
    </dgm:pt>
    <dgm:pt modelId="{C0CF906A-AF77-4378-8EAC-CB639CF027BC}" type="sibTrans" cxnId="{BF9D22A2-7AEC-4660-89DE-5BAC7B306E49}">
      <dgm:prSet/>
      <dgm:spPr/>
      <dgm:t>
        <a:bodyPr/>
        <a:lstStyle/>
        <a:p>
          <a:endParaRPr lang="it-IT"/>
        </a:p>
      </dgm:t>
    </dgm:pt>
    <dgm:pt modelId="{AB52B3CC-6563-466D-BFC3-9B6B5AFA0881}" type="pres">
      <dgm:prSet presAssocID="{6A70FD8F-0050-42E3-8B3A-6ED7CFB9852E}" presName="Name0" presStyleCnt="0">
        <dgm:presLayoutVars>
          <dgm:chMax/>
          <dgm:chPref/>
          <dgm:animLvl val="lvl"/>
        </dgm:presLayoutVars>
      </dgm:prSet>
      <dgm:spPr/>
    </dgm:pt>
    <dgm:pt modelId="{9339A10A-9C60-4597-8DEE-7789F80A98B2}" type="pres">
      <dgm:prSet presAssocID="{942523F0-2ABE-42BC-B8DE-121F5EE7F525}" presName="composite" presStyleCnt="0"/>
      <dgm:spPr/>
    </dgm:pt>
    <dgm:pt modelId="{B0C8DAFE-FE6D-49A5-9FD5-C88100489A1A}" type="pres">
      <dgm:prSet presAssocID="{942523F0-2ABE-42BC-B8DE-121F5EE7F525}" presName="parent" presStyleLbl="alignNode1" presStyleIdx="0" presStyleCnt="1" custLinFactY="-121149" custLinFactNeighborX="0" custLinFactNeighborY="-200000">
        <dgm:presLayoutVars>
          <dgm:chMax val="1"/>
          <dgm:chPref val="1"/>
          <dgm:bulletEnabled val="1"/>
        </dgm:presLayoutVars>
      </dgm:prSet>
      <dgm:spPr/>
    </dgm:pt>
    <dgm:pt modelId="{BDAE6A49-E2B0-49C9-9F7F-C606306E5E69}" type="pres">
      <dgm:prSet presAssocID="{942523F0-2ABE-42BC-B8DE-121F5EE7F525}" presName="Childtext" presStyleLbl="revTx" presStyleIdx="0" presStyleCnt="1" custLinFactY="35366" custLinFactNeighborY="100000">
        <dgm:presLayoutVars>
          <dgm:bulletEnabled val="1"/>
        </dgm:presLayoutVars>
      </dgm:prSet>
      <dgm:spPr/>
    </dgm:pt>
    <dgm:pt modelId="{7BA99F82-2051-4D04-9497-276C3F7320FE}" type="pres">
      <dgm:prSet presAssocID="{942523F0-2ABE-42BC-B8DE-121F5EE7F525}" presName="ConnectLine" presStyleLbl="sibTrans1D1" presStyleIdx="0" presStyleCnt="1"/>
      <dgm:spPr>
        <a:noFill/>
        <a:ln w="12700" cap="rnd" cmpd="sng" algn="ctr">
          <a:solidFill>
            <a:schemeClr val="accent1">
              <a:shade val="90000"/>
              <a:hueOff val="0"/>
              <a:satOff val="0"/>
              <a:lumOff val="0"/>
              <a:alphaOff val="0"/>
            </a:schemeClr>
          </a:solidFill>
          <a:prstDash val="dash"/>
        </a:ln>
        <a:effectLst/>
      </dgm:spPr>
    </dgm:pt>
    <dgm:pt modelId="{52DBA606-0ABE-4CCE-9656-D5FFB9D29AFE}" type="pres">
      <dgm:prSet presAssocID="{942523F0-2ABE-42BC-B8DE-121F5EE7F525}" presName="ConnectLineEnd" presStyleLbl="lnNode1" presStyleIdx="0" presStyleCnt="1"/>
      <dgm:spPr/>
    </dgm:pt>
    <dgm:pt modelId="{1B3FF999-202C-4510-A787-6B39B12C7C9F}" type="pres">
      <dgm:prSet presAssocID="{942523F0-2ABE-42BC-B8DE-121F5EE7F525}" presName="EmptyPane" presStyleCnt="0"/>
      <dgm:spPr/>
    </dgm:pt>
  </dgm:ptLst>
  <dgm:cxnLst>
    <dgm:cxn modelId="{84C67813-55CE-4EBC-9032-03BD847DC17E}" type="presOf" srcId="{6A70FD8F-0050-42E3-8B3A-6ED7CFB9852E}" destId="{AB52B3CC-6563-466D-BFC3-9B6B5AFA0881}" srcOrd="0" destOrd="0" presId="urn:microsoft.com/office/officeart/2016/7/layout/RoundedRectangleTimeline"/>
    <dgm:cxn modelId="{BF9D22A2-7AEC-4660-89DE-5BAC7B306E49}" srcId="{6A70FD8F-0050-42E3-8B3A-6ED7CFB9852E}" destId="{942523F0-2ABE-42BC-B8DE-121F5EE7F525}" srcOrd="0" destOrd="0" parTransId="{FD6A9107-2E8E-432E-AD91-BDB6C42DD57F}" sibTransId="{C0CF906A-AF77-4378-8EAC-CB639CF027BC}"/>
    <dgm:cxn modelId="{450A0EC3-CF04-4A9C-AF4E-E64826C974E7}" type="presOf" srcId="{942523F0-2ABE-42BC-B8DE-121F5EE7F525}" destId="{B0C8DAFE-FE6D-49A5-9FD5-C88100489A1A}" srcOrd="0" destOrd="0" presId="urn:microsoft.com/office/officeart/2016/7/layout/RoundedRectangleTimeline"/>
    <dgm:cxn modelId="{4184CA04-6B21-41F8-AE0D-6239B54063F6}" type="presParOf" srcId="{AB52B3CC-6563-466D-BFC3-9B6B5AFA0881}" destId="{9339A10A-9C60-4597-8DEE-7789F80A98B2}" srcOrd="0" destOrd="0" presId="urn:microsoft.com/office/officeart/2016/7/layout/RoundedRectangleTimeline"/>
    <dgm:cxn modelId="{FADED91A-1EFB-4E12-9F3C-82FC34E3684E}" type="presParOf" srcId="{9339A10A-9C60-4597-8DEE-7789F80A98B2}" destId="{B0C8DAFE-FE6D-49A5-9FD5-C88100489A1A}" srcOrd="0" destOrd="0" presId="urn:microsoft.com/office/officeart/2016/7/layout/RoundedRectangleTimeline"/>
    <dgm:cxn modelId="{D1D0D3AC-EB84-4B7B-911A-FD4BE281923D}" type="presParOf" srcId="{9339A10A-9C60-4597-8DEE-7789F80A98B2}" destId="{BDAE6A49-E2B0-49C9-9F7F-C606306E5E69}" srcOrd="1" destOrd="0" presId="urn:microsoft.com/office/officeart/2016/7/layout/RoundedRectangleTimeline"/>
    <dgm:cxn modelId="{F59612D1-47AD-42AE-8EF1-909489E36790}" type="presParOf" srcId="{9339A10A-9C60-4597-8DEE-7789F80A98B2}" destId="{7BA99F82-2051-4D04-9497-276C3F7320FE}" srcOrd="2" destOrd="0" presId="urn:microsoft.com/office/officeart/2016/7/layout/RoundedRectangleTimeline"/>
    <dgm:cxn modelId="{7F943C29-96FF-46E5-B463-18634160F498}" type="presParOf" srcId="{9339A10A-9C60-4597-8DEE-7789F80A98B2}" destId="{52DBA606-0ABE-4CCE-9656-D5FFB9D29AFE}" srcOrd="3" destOrd="0" presId="urn:microsoft.com/office/officeart/2016/7/layout/RoundedRectangleTimeline"/>
    <dgm:cxn modelId="{0E93F5C8-3431-4730-B483-D17B043A8DCD}" type="presParOf" srcId="{9339A10A-9C60-4597-8DEE-7789F80A98B2}" destId="{1B3FF999-202C-4510-A787-6B39B12C7C9F}" srcOrd="4" destOrd="0" presId="urn:microsoft.com/office/officeart/2016/7/layout/RoundedRectangleTimeline"/>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942523F0-2ABE-42BC-B8DE-121F5EE7F525}">
      <dgm:prSet phldr="0" custT="1"/>
      <dgm:spPr/>
      <dgm:t>
        <a:bodyPr/>
        <a:lstStyle/>
        <a:p>
          <a:pPr rtl="0">
            <a:buNone/>
          </a:pPr>
          <a:r>
            <a:rPr lang="it-IT" sz="2000" b="0" dirty="0">
              <a:latin typeface="Franklin Gothic Demi" panose="020B0502020104020203"/>
            </a:rPr>
            <a:t>Gerarchie su Date e Prodotti</a:t>
          </a:r>
          <a:endParaRPr lang="it-IT" sz="2000" b="0" dirty="0"/>
        </a:p>
      </dgm:t>
    </dgm:pt>
    <dgm:pt modelId="{FD6A9107-2E8E-432E-AD91-BDB6C42DD57F}" type="parTrans" cxnId="{BF9D22A2-7AEC-4660-89DE-5BAC7B306E49}">
      <dgm:prSet/>
      <dgm:spPr/>
      <dgm:t>
        <a:bodyPr/>
        <a:lstStyle/>
        <a:p>
          <a:endParaRPr lang="it-IT"/>
        </a:p>
      </dgm:t>
    </dgm:pt>
    <dgm:pt modelId="{C0CF906A-AF77-4378-8EAC-CB639CF027BC}" type="sibTrans" cxnId="{BF9D22A2-7AEC-4660-89DE-5BAC7B306E49}">
      <dgm:prSet/>
      <dgm:spPr/>
      <dgm:t>
        <a:bodyPr/>
        <a:lstStyle/>
        <a:p>
          <a:endParaRPr lang="it-IT"/>
        </a:p>
      </dgm:t>
    </dgm:pt>
    <dgm:pt modelId="{AB52B3CC-6563-466D-BFC3-9B6B5AFA0881}" type="pres">
      <dgm:prSet presAssocID="{6A70FD8F-0050-42E3-8B3A-6ED7CFB9852E}" presName="Name0" presStyleCnt="0">
        <dgm:presLayoutVars>
          <dgm:chMax/>
          <dgm:chPref/>
          <dgm:animLvl val="lvl"/>
        </dgm:presLayoutVars>
      </dgm:prSet>
      <dgm:spPr/>
    </dgm:pt>
    <dgm:pt modelId="{9339A10A-9C60-4597-8DEE-7789F80A98B2}" type="pres">
      <dgm:prSet presAssocID="{942523F0-2ABE-42BC-B8DE-121F5EE7F525}" presName="composite" presStyleCnt="0"/>
      <dgm:spPr/>
    </dgm:pt>
    <dgm:pt modelId="{B0C8DAFE-FE6D-49A5-9FD5-C88100489A1A}" type="pres">
      <dgm:prSet presAssocID="{942523F0-2ABE-42BC-B8DE-121F5EE7F525}" presName="parent" presStyleLbl="alignNode1" presStyleIdx="0" presStyleCnt="1" custLinFactY="-121149" custLinFactNeighborX="0" custLinFactNeighborY="-200000">
        <dgm:presLayoutVars>
          <dgm:chMax val="1"/>
          <dgm:chPref val="1"/>
          <dgm:bulletEnabled val="1"/>
        </dgm:presLayoutVars>
      </dgm:prSet>
      <dgm:spPr/>
    </dgm:pt>
    <dgm:pt modelId="{BDAE6A49-E2B0-49C9-9F7F-C606306E5E69}" type="pres">
      <dgm:prSet presAssocID="{942523F0-2ABE-42BC-B8DE-121F5EE7F525}" presName="Childtext" presStyleLbl="revTx" presStyleIdx="0" presStyleCnt="1" custLinFactY="35366" custLinFactNeighborY="100000">
        <dgm:presLayoutVars>
          <dgm:bulletEnabled val="1"/>
        </dgm:presLayoutVars>
      </dgm:prSet>
      <dgm:spPr/>
    </dgm:pt>
    <dgm:pt modelId="{7BA99F82-2051-4D04-9497-276C3F7320FE}" type="pres">
      <dgm:prSet presAssocID="{942523F0-2ABE-42BC-B8DE-121F5EE7F525}" presName="ConnectLine" presStyleLbl="sibTrans1D1" presStyleIdx="0" presStyleCnt="1"/>
      <dgm:spPr>
        <a:noFill/>
        <a:ln w="12700" cap="rnd" cmpd="sng" algn="ctr">
          <a:solidFill>
            <a:schemeClr val="accent1">
              <a:shade val="90000"/>
              <a:hueOff val="0"/>
              <a:satOff val="0"/>
              <a:lumOff val="0"/>
              <a:alphaOff val="0"/>
            </a:schemeClr>
          </a:solidFill>
          <a:prstDash val="dash"/>
        </a:ln>
        <a:effectLst/>
      </dgm:spPr>
    </dgm:pt>
    <dgm:pt modelId="{52DBA606-0ABE-4CCE-9656-D5FFB9D29AFE}" type="pres">
      <dgm:prSet presAssocID="{942523F0-2ABE-42BC-B8DE-121F5EE7F525}" presName="ConnectLineEnd" presStyleLbl="lnNode1" presStyleIdx="0" presStyleCnt="1"/>
      <dgm:spPr/>
    </dgm:pt>
    <dgm:pt modelId="{1B3FF999-202C-4510-A787-6B39B12C7C9F}" type="pres">
      <dgm:prSet presAssocID="{942523F0-2ABE-42BC-B8DE-121F5EE7F525}" presName="EmptyPane" presStyleCnt="0"/>
      <dgm:spPr/>
    </dgm:pt>
  </dgm:ptLst>
  <dgm:cxnLst>
    <dgm:cxn modelId="{84C67813-55CE-4EBC-9032-03BD847DC17E}" type="presOf" srcId="{6A70FD8F-0050-42E3-8B3A-6ED7CFB9852E}" destId="{AB52B3CC-6563-466D-BFC3-9B6B5AFA0881}" srcOrd="0" destOrd="0" presId="urn:microsoft.com/office/officeart/2016/7/layout/RoundedRectangleTimeline"/>
    <dgm:cxn modelId="{BF9D22A2-7AEC-4660-89DE-5BAC7B306E49}" srcId="{6A70FD8F-0050-42E3-8B3A-6ED7CFB9852E}" destId="{942523F0-2ABE-42BC-B8DE-121F5EE7F525}" srcOrd="0" destOrd="0" parTransId="{FD6A9107-2E8E-432E-AD91-BDB6C42DD57F}" sibTransId="{C0CF906A-AF77-4378-8EAC-CB639CF027BC}"/>
    <dgm:cxn modelId="{450A0EC3-CF04-4A9C-AF4E-E64826C974E7}" type="presOf" srcId="{942523F0-2ABE-42BC-B8DE-121F5EE7F525}" destId="{B0C8DAFE-FE6D-49A5-9FD5-C88100489A1A}" srcOrd="0" destOrd="0" presId="urn:microsoft.com/office/officeart/2016/7/layout/RoundedRectangleTimeline"/>
    <dgm:cxn modelId="{4184CA04-6B21-41F8-AE0D-6239B54063F6}" type="presParOf" srcId="{AB52B3CC-6563-466D-BFC3-9B6B5AFA0881}" destId="{9339A10A-9C60-4597-8DEE-7789F80A98B2}" srcOrd="0" destOrd="0" presId="urn:microsoft.com/office/officeart/2016/7/layout/RoundedRectangleTimeline"/>
    <dgm:cxn modelId="{FADED91A-1EFB-4E12-9F3C-82FC34E3684E}" type="presParOf" srcId="{9339A10A-9C60-4597-8DEE-7789F80A98B2}" destId="{B0C8DAFE-FE6D-49A5-9FD5-C88100489A1A}" srcOrd="0" destOrd="0" presId="urn:microsoft.com/office/officeart/2016/7/layout/RoundedRectangleTimeline"/>
    <dgm:cxn modelId="{D1D0D3AC-EB84-4B7B-911A-FD4BE281923D}" type="presParOf" srcId="{9339A10A-9C60-4597-8DEE-7789F80A98B2}" destId="{BDAE6A49-E2B0-49C9-9F7F-C606306E5E69}" srcOrd="1" destOrd="0" presId="urn:microsoft.com/office/officeart/2016/7/layout/RoundedRectangleTimeline"/>
    <dgm:cxn modelId="{F59612D1-47AD-42AE-8EF1-909489E36790}" type="presParOf" srcId="{9339A10A-9C60-4597-8DEE-7789F80A98B2}" destId="{7BA99F82-2051-4D04-9497-276C3F7320FE}" srcOrd="2" destOrd="0" presId="urn:microsoft.com/office/officeart/2016/7/layout/RoundedRectangleTimeline"/>
    <dgm:cxn modelId="{7F943C29-96FF-46E5-B463-18634160F498}" type="presParOf" srcId="{9339A10A-9C60-4597-8DEE-7789F80A98B2}" destId="{52DBA606-0ABE-4CCE-9656-D5FFB9D29AFE}" srcOrd="3" destOrd="0" presId="urn:microsoft.com/office/officeart/2016/7/layout/RoundedRectangleTimeline"/>
    <dgm:cxn modelId="{0E93F5C8-3431-4730-B483-D17B043A8DCD}" type="presParOf" srcId="{9339A10A-9C60-4597-8DEE-7789F80A98B2}" destId="{1B3FF999-202C-4510-A787-6B39B12C7C9F}" srcOrd="4" destOrd="0" presId="urn:microsoft.com/office/officeart/2016/7/layout/RoundedRectangleTimeline"/>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942523F0-2ABE-42BC-B8DE-121F5EE7F525}">
      <dgm:prSet custT="1"/>
      <dgm:spPr/>
      <dgm:t>
        <a:bodyPr/>
        <a:lstStyle/>
        <a:p>
          <a:pPr rtl="0">
            <a:buNone/>
          </a:pPr>
          <a:r>
            <a:rPr lang="it-IT" sz="2000" b="0" dirty="0">
              <a:latin typeface="Franklin Gothic Demi" panose="020B0502020104020203"/>
            </a:rPr>
            <a:t>DAX CALCULATIONS</a:t>
          </a:r>
          <a:endParaRPr lang="it-IT" sz="2000" b="0" dirty="0"/>
        </a:p>
      </dgm:t>
    </dgm:pt>
    <dgm:pt modelId="{FD6A9107-2E8E-432E-AD91-BDB6C42DD57F}" type="parTrans" cxnId="{BF9D22A2-7AEC-4660-89DE-5BAC7B306E49}">
      <dgm:prSet/>
      <dgm:spPr/>
      <dgm:t>
        <a:bodyPr/>
        <a:lstStyle/>
        <a:p>
          <a:endParaRPr lang="it-IT"/>
        </a:p>
      </dgm:t>
    </dgm:pt>
    <dgm:pt modelId="{C0CF906A-AF77-4378-8EAC-CB639CF027BC}" type="sibTrans" cxnId="{BF9D22A2-7AEC-4660-89DE-5BAC7B306E49}">
      <dgm:prSet/>
      <dgm:spPr/>
      <dgm:t>
        <a:bodyPr/>
        <a:lstStyle/>
        <a:p>
          <a:endParaRPr lang="it-IT"/>
        </a:p>
      </dgm:t>
    </dgm:pt>
    <dgm:pt modelId="{AB52B3CC-6563-466D-BFC3-9B6B5AFA0881}" type="pres">
      <dgm:prSet presAssocID="{6A70FD8F-0050-42E3-8B3A-6ED7CFB9852E}" presName="Name0" presStyleCnt="0">
        <dgm:presLayoutVars>
          <dgm:chMax/>
          <dgm:chPref/>
          <dgm:animLvl val="lvl"/>
        </dgm:presLayoutVars>
      </dgm:prSet>
      <dgm:spPr/>
    </dgm:pt>
    <dgm:pt modelId="{9339A10A-9C60-4597-8DEE-7789F80A98B2}" type="pres">
      <dgm:prSet presAssocID="{942523F0-2ABE-42BC-B8DE-121F5EE7F525}" presName="composite" presStyleCnt="0"/>
      <dgm:spPr/>
    </dgm:pt>
    <dgm:pt modelId="{B0C8DAFE-FE6D-49A5-9FD5-C88100489A1A}" type="pres">
      <dgm:prSet presAssocID="{942523F0-2ABE-42BC-B8DE-121F5EE7F525}" presName="parent" presStyleLbl="alignNode1" presStyleIdx="0" presStyleCnt="1" custLinFactY="-121149" custLinFactNeighborX="0" custLinFactNeighborY="-200000">
        <dgm:presLayoutVars>
          <dgm:chMax val="1"/>
          <dgm:chPref val="1"/>
          <dgm:bulletEnabled val="1"/>
        </dgm:presLayoutVars>
      </dgm:prSet>
      <dgm:spPr/>
    </dgm:pt>
    <dgm:pt modelId="{BDAE6A49-E2B0-49C9-9F7F-C606306E5E69}" type="pres">
      <dgm:prSet presAssocID="{942523F0-2ABE-42BC-B8DE-121F5EE7F525}" presName="Childtext" presStyleLbl="revTx" presStyleIdx="0" presStyleCnt="1" custLinFactY="35366" custLinFactNeighborY="100000">
        <dgm:presLayoutVars>
          <dgm:bulletEnabled val="1"/>
        </dgm:presLayoutVars>
      </dgm:prSet>
      <dgm:spPr/>
    </dgm:pt>
    <dgm:pt modelId="{7BA99F82-2051-4D04-9497-276C3F7320FE}" type="pres">
      <dgm:prSet presAssocID="{942523F0-2ABE-42BC-B8DE-121F5EE7F525}" presName="ConnectLine" presStyleLbl="sibTrans1D1" presStyleIdx="0" presStyleCnt="1"/>
      <dgm:spPr>
        <a:noFill/>
        <a:ln w="12700" cap="rnd" cmpd="sng" algn="ctr">
          <a:solidFill>
            <a:schemeClr val="accent1">
              <a:shade val="90000"/>
              <a:hueOff val="0"/>
              <a:satOff val="0"/>
              <a:lumOff val="0"/>
              <a:alphaOff val="0"/>
            </a:schemeClr>
          </a:solidFill>
          <a:prstDash val="dash"/>
        </a:ln>
        <a:effectLst/>
      </dgm:spPr>
    </dgm:pt>
    <dgm:pt modelId="{52DBA606-0ABE-4CCE-9656-D5FFB9D29AFE}" type="pres">
      <dgm:prSet presAssocID="{942523F0-2ABE-42BC-B8DE-121F5EE7F525}" presName="ConnectLineEnd" presStyleLbl="lnNode1" presStyleIdx="0" presStyleCnt="1"/>
      <dgm:spPr/>
    </dgm:pt>
    <dgm:pt modelId="{1B3FF999-202C-4510-A787-6B39B12C7C9F}" type="pres">
      <dgm:prSet presAssocID="{942523F0-2ABE-42BC-B8DE-121F5EE7F525}" presName="EmptyPane" presStyleCnt="0"/>
      <dgm:spPr/>
    </dgm:pt>
  </dgm:ptLst>
  <dgm:cxnLst>
    <dgm:cxn modelId="{84C67813-55CE-4EBC-9032-03BD847DC17E}" type="presOf" srcId="{6A70FD8F-0050-42E3-8B3A-6ED7CFB9852E}" destId="{AB52B3CC-6563-466D-BFC3-9B6B5AFA0881}" srcOrd="0" destOrd="0" presId="urn:microsoft.com/office/officeart/2016/7/layout/RoundedRectangleTimeline"/>
    <dgm:cxn modelId="{BF9D22A2-7AEC-4660-89DE-5BAC7B306E49}" srcId="{6A70FD8F-0050-42E3-8B3A-6ED7CFB9852E}" destId="{942523F0-2ABE-42BC-B8DE-121F5EE7F525}" srcOrd="0" destOrd="0" parTransId="{FD6A9107-2E8E-432E-AD91-BDB6C42DD57F}" sibTransId="{C0CF906A-AF77-4378-8EAC-CB639CF027BC}"/>
    <dgm:cxn modelId="{450A0EC3-CF04-4A9C-AF4E-E64826C974E7}" type="presOf" srcId="{942523F0-2ABE-42BC-B8DE-121F5EE7F525}" destId="{B0C8DAFE-FE6D-49A5-9FD5-C88100489A1A}" srcOrd="0" destOrd="0" presId="urn:microsoft.com/office/officeart/2016/7/layout/RoundedRectangleTimeline"/>
    <dgm:cxn modelId="{4184CA04-6B21-41F8-AE0D-6239B54063F6}" type="presParOf" srcId="{AB52B3CC-6563-466D-BFC3-9B6B5AFA0881}" destId="{9339A10A-9C60-4597-8DEE-7789F80A98B2}" srcOrd="0" destOrd="0" presId="urn:microsoft.com/office/officeart/2016/7/layout/RoundedRectangleTimeline"/>
    <dgm:cxn modelId="{FADED91A-1EFB-4E12-9F3C-82FC34E3684E}" type="presParOf" srcId="{9339A10A-9C60-4597-8DEE-7789F80A98B2}" destId="{B0C8DAFE-FE6D-49A5-9FD5-C88100489A1A}" srcOrd="0" destOrd="0" presId="urn:microsoft.com/office/officeart/2016/7/layout/RoundedRectangleTimeline"/>
    <dgm:cxn modelId="{D1D0D3AC-EB84-4B7B-911A-FD4BE281923D}" type="presParOf" srcId="{9339A10A-9C60-4597-8DEE-7789F80A98B2}" destId="{BDAE6A49-E2B0-49C9-9F7F-C606306E5E69}" srcOrd="1" destOrd="0" presId="urn:microsoft.com/office/officeart/2016/7/layout/RoundedRectangleTimeline"/>
    <dgm:cxn modelId="{F59612D1-47AD-42AE-8EF1-909489E36790}" type="presParOf" srcId="{9339A10A-9C60-4597-8DEE-7789F80A98B2}" destId="{7BA99F82-2051-4D04-9497-276C3F7320FE}" srcOrd="2" destOrd="0" presId="urn:microsoft.com/office/officeart/2016/7/layout/RoundedRectangleTimeline"/>
    <dgm:cxn modelId="{7F943C29-96FF-46E5-B463-18634160F498}" type="presParOf" srcId="{9339A10A-9C60-4597-8DEE-7789F80A98B2}" destId="{52DBA606-0ABE-4CCE-9656-D5FFB9D29AFE}" srcOrd="3" destOrd="0" presId="urn:microsoft.com/office/officeart/2016/7/layout/RoundedRectangleTimeline"/>
    <dgm:cxn modelId="{0E93F5C8-3431-4730-B483-D17B043A8DCD}" type="presParOf" srcId="{9339A10A-9C60-4597-8DEE-7789F80A98B2}" destId="{1B3FF999-202C-4510-A787-6B39B12C7C9F}"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8DAFE-FE6D-49A5-9FD5-C88100489A1A}">
      <dsp:nvSpPr>
        <dsp:cNvPr id="0" name=""/>
        <dsp:cNvSpPr/>
      </dsp:nvSpPr>
      <dsp:spPr>
        <a:xfrm>
          <a:off x="280865" y="468217"/>
          <a:ext cx="10468219" cy="363378"/>
        </a:xfrm>
        <a:prstGeom prst="round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1">
          <a:noAutofit/>
        </a:bodyPr>
        <a:lstStyle/>
        <a:p>
          <a:pPr marL="0" lvl="0" indent="0" algn="ctr" defTabSz="889000">
            <a:lnSpc>
              <a:spcPct val="90000"/>
            </a:lnSpc>
            <a:spcBef>
              <a:spcPct val="0"/>
            </a:spcBef>
            <a:spcAft>
              <a:spcPct val="35000"/>
            </a:spcAft>
            <a:buNone/>
          </a:pPr>
          <a:r>
            <a:rPr lang="it-IT" sz="2000" b="1" kern="1200"/>
            <a:t>Ruoli nel gruppo</a:t>
          </a:r>
        </a:p>
      </dsp:txBody>
      <dsp:txXfrm>
        <a:off x="298604" y="485956"/>
        <a:ext cx="10432741" cy="327900"/>
      </dsp:txXfrm>
    </dsp:sp>
    <dsp:sp modelId="{BDAE6A49-E2B0-49C9-9F7F-C606306E5E69}">
      <dsp:nvSpPr>
        <dsp:cNvPr id="0" name=""/>
        <dsp:cNvSpPr/>
      </dsp:nvSpPr>
      <dsp:spPr>
        <a:xfrm>
          <a:off x="280865" y="1721619"/>
          <a:ext cx="1046821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rtl="0">
            <a:lnSpc>
              <a:spcPct val="90000"/>
            </a:lnSpc>
            <a:spcBef>
              <a:spcPct val="0"/>
            </a:spcBef>
            <a:spcAft>
              <a:spcPct val="35000"/>
            </a:spcAft>
            <a:buFont typeface="+mj-lt"/>
            <a:buNone/>
          </a:pPr>
          <a:r>
            <a:rPr lang="it-IT" sz="1800" b="0" kern="1200">
              <a:latin typeface="Franklin Gothic Demi" panose="020B0502020104020203"/>
            </a:rPr>
            <a:t>DATA PREPARER</a:t>
          </a:r>
          <a:r>
            <a:rPr lang="it-IT" sz="1800" kern="1200"/>
            <a:t> – </a:t>
          </a:r>
          <a:r>
            <a:rPr lang="it-IT" sz="1800" kern="1200" err="1"/>
            <a:t>Michelapia</a:t>
          </a:r>
          <a:r>
            <a:rPr lang="it-IT" sz="1800" kern="1200"/>
            <a:t> Gaggiano</a:t>
          </a:r>
        </a:p>
        <a:p>
          <a:pPr marL="0" lvl="0" indent="0" algn="ctr" defTabSz="800100" rtl="0">
            <a:lnSpc>
              <a:spcPct val="90000"/>
            </a:lnSpc>
            <a:spcBef>
              <a:spcPct val="0"/>
            </a:spcBef>
            <a:spcAft>
              <a:spcPct val="35000"/>
            </a:spcAft>
            <a:buFont typeface="+mj-lt"/>
            <a:buNone/>
          </a:pPr>
          <a:r>
            <a:rPr lang="it-IT" sz="1800" b="1" kern="1200">
              <a:latin typeface="Franklin Gothic Demi" panose="020B0502020104020203"/>
            </a:rPr>
            <a:t>DATA MODELER</a:t>
          </a:r>
          <a:r>
            <a:rPr lang="it-IT" sz="1800" kern="1200"/>
            <a:t> – Ilaria Martelli</a:t>
          </a:r>
        </a:p>
        <a:p>
          <a:pPr marL="0" lvl="0" indent="0" algn="ctr" defTabSz="800100" rtl="0">
            <a:lnSpc>
              <a:spcPct val="90000"/>
            </a:lnSpc>
            <a:spcBef>
              <a:spcPct val="0"/>
            </a:spcBef>
            <a:spcAft>
              <a:spcPct val="35000"/>
            </a:spcAft>
            <a:buFont typeface="+mj-lt"/>
            <a:buNone/>
          </a:pPr>
          <a:r>
            <a:rPr lang="it-IT" sz="1800" b="1" kern="1200">
              <a:latin typeface="Franklin Gothic Demi" panose="020B0502020104020203"/>
            </a:rPr>
            <a:t>REPORT</a:t>
          </a:r>
          <a:r>
            <a:rPr lang="it-IT" sz="1800" b="1" kern="1200"/>
            <a:t> </a:t>
          </a:r>
          <a:r>
            <a:rPr lang="it-IT" sz="1800" b="1" kern="1200">
              <a:latin typeface="Franklin Gothic Demi" panose="020B0502020104020203"/>
            </a:rPr>
            <a:t>DESIGNER </a:t>
          </a:r>
          <a:r>
            <a:rPr lang="it-IT" sz="1800" b="1" kern="1200"/>
            <a:t>(</a:t>
          </a:r>
          <a:r>
            <a:rPr lang="it-IT" sz="1800" b="0" kern="1200">
              <a:latin typeface="Franklin Gothic Demi" panose="020B0502020104020203"/>
            </a:rPr>
            <a:t>Ricavi</a:t>
          </a:r>
          <a:r>
            <a:rPr lang="it-IT" sz="1800" b="1" kern="1200"/>
            <a:t>)</a:t>
          </a:r>
          <a:r>
            <a:rPr lang="it-IT" sz="1800" kern="1200"/>
            <a:t> – Andrea </a:t>
          </a:r>
          <a:r>
            <a:rPr lang="it-IT" sz="1800" kern="1200" err="1"/>
            <a:t>Ropa</a:t>
          </a:r>
          <a:endParaRPr lang="it-IT" sz="1800" kern="1200"/>
        </a:p>
        <a:p>
          <a:pPr marL="0" lvl="0" indent="0" algn="ctr" defTabSz="800100" rtl="0">
            <a:lnSpc>
              <a:spcPct val="90000"/>
            </a:lnSpc>
            <a:spcBef>
              <a:spcPct val="0"/>
            </a:spcBef>
            <a:spcAft>
              <a:spcPct val="35000"/>
            </a:spcAft>
            <a:buFont typeface="+mj-lt"/>
            <a:buNone/>
          </a:pPr>
          <a:r>
            <a:rPr lang="it-IT" sz="1800" b="1" kern="1200">
              <a:latin typeface="Franklin Gothic Demi" panose="020B0502020104020203"/>
            </a:rPr>
            <a:t>REPORT</a:t>
          </a:r>
          <a:r>
            <a:rPr lang="it-IT" sz="1800" b="1" kern="1200"/>
            <a:t> </a:t>
          </a:r>
          <a:r>
            <a:rPr lang="it-IT" sz="1800" b="1" kern="1200">
              <a:latin typeface="Franklin Gothic Demi" panose="020B0502020104020203"/>
            </a:rPr>
            <a:t>DESIGNER </a:t>
          </a:r>
          <a:r>
            <a:rPr lang="it-IT" sz="1800" b="1" kern="1200"/>
            <a:t>(</a:t>
          </a:r>
          <a:r>
            <a:rPr lang="it-IT" sz="1800" b="1" kern="1200">
              <a:latin typeface="Franklin Gothic Demi" panose="020B0502020104020203"/>
            </a:rPr>
            <a:t>Clienti</a:t>
          </a:r>
          <a:r>
            <a:rPr lang="it-IT" sz="1800" b="1" kern="1200"/>
            <a:t>)</a:t>
          </a:r>
          <a:r>
            <a:rPr lang="it-IT" sz="1800" kern="1200"/>
            <a:t> – Daniele Mangione</a:t>
          </a:r>
        </a:p>
        <a:p>
          <a:pPr marL="0" lvl="0" indent="0" algn="ctr" defTabSz="800100" rtl="0">
            <a:lnSpc>
              <a:spcPct val="90000"/>
            </a:lnSpc>
            <a:spcBef>
              <a:spcPct val="0"/>
            </a:spcBef>
            <a:spcAft>
              <a:spcPct val="35000"/>
            </a:spcAft>
            <a:buFont typeface="+mj-lt"/>
            <a:buNone/>
          </a:pPr>
          <a:r>
            <a:rPr lang="en-US" sz="1800" b="1" kern="1200" dirty="0">
              <a:latin typeface="Franklin Gothic Demi" panose="020B0502020104020203"/>
            </a:rPr>
            <a:t>REPORT</a:t>
          </a:r>
          <a:r>
            <a:rPr lang="en-US" sz="1800" b="1" kern="1200" dirty="0"/>
            <a:t> </a:t>
          </a:r>
          <a:r>
            <a:rPr lang="en-US" sz="1800" b="1" kern="1200" dirty="0">
              <a:latin typeface="Franklin Gothic Demi" panose="020B0502020104020203"/>
            </a:rPr>
            <a:t>DESIGNER </a:t>
          </a:r>
          <a:r>
            <a:rPr lang="en-US" sz="1800" b="1" kern="1200" dirty="0"/>
            <a:t>(</a:t>
          </a:r>
          <a:r>
            <a:rPr lang="en-US" sz="1800" b="1" kern="1200" dirty="0">
              <a:latin typeface="Franklin Gothic Demi" panose="020B0502020104020203"/>
            </a:rPr>
            <a:t>User Interactions</a:t>
          </a:r>
          <a:r>
            <a:rPr lang="en-US" sz="1800" b="1" kern="1200" dirty="0"/>
            <a:t>)</a:t>
          </a:r>
          <a:r>
            <a:rPr lang="en-US" sz="1800" kern="1200" dirty="0"/>
            <a:t> – Marianna Merli</a:t>
          </a:r>
          <a:endParaRPr lang="it-IT" sz="1800" kern="1200" dirty="0"/>
        </a:p>
      </dsp:txBody>
      <dsp:txXfrm>
        <a:off x="280865" y="1721619"/>
        <a:ext cx="10468219" cy="1271825"/>
      </dsp:txXfrm>
    </dsp:sp>
    <dsp:sp modelId="{7BA99F82-2051-4D04-9497-276C3F7320FE}">
      <dsp:nvSpPr>
        <dsp:cNvPr id="0" name=""/>
        <dsp:cNvSpPr/>
      </dsp:nvSpPr>
      <dsp:spPr>
        <a:xfrm>
          <a:off x="5514975" y="1344501"/>
          <a:ext cx="0" cy="290702"/>
        </a:xfrm>
        <a:prstGeom prst="line">
          <a:avLst/>
        </a:prstGeom>
        <a:noFill/>
        <a:ln w="12700" cap="rnd" cmpd="sng" algn="ctr">
          <a:solidFill>
            <a:schemeClr val="accent1">
              <a:shade val="90000"/>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2DBA606-0ABE-4CCE-9656-D5FFB9D29AFE}">
      <dsp:nvSpPr>
        <dsp:cNvPr id="0" name=""/>
        <dsp:cNvSpPr/>
      </dsp:nvSpPr>
      <dsp:spPr>
        <a:xfrm>
          <a:off x="5478637"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8DAFE-FE6D-49A5-9FD5-C88100489A1A}">
      <dsp:nvSpPr>
        <dsp:cNvPr id="0" name=""/>
        <dsp:cNvSpPr/>
      </dsp:nvSpPr>
      <dsp:spPr>
        <a:xfrm>
          <a:off x="132814" y="403657"/>
          <a:ext cx="4950158" cy="313274"/>
        </a:xfrm>
        <a:prstGeom prst="round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1">
          <a:noAutofit/>
        </a:bodyPr>
        <a:lstStyle/>
        <a:p>
          <a:pPr marL="0" lvl="0" indent="0" algn="ctr" defTabSz="889000" rtl="0">
            <a:lnSpc>
              <a:spcPct val="90000"/>
            </a:lnSpc>
            <a:spcBef>
              <a:spcPct val="0"/>
            </a:spcBef>
            <a:spcAft>
              <a:spcPct val="35000"/>
            </a:spcAft>
            <a:buNone/>
          </a:pPr>
          <a:r>
            <a:rPr lang="it-IT" sz="2000" b="0" kern="1200" dirty="0">
              <a:latin typeface="Franklin Gothic Demi" panose="020B0502020104020203"/>
            </a:rPr>
            <a:t>Data </a:t>
          </a:r>
          <a:r>
            <a:rPr lang="it-IT" sz="2000" b="0" kern="1200" dirty="0" err="1">
              <a:latin typeface="Franklin Gothic Demi" panose="020B0502020104020203"/>
            </a:rPr>
            <a:t>Categorization</a:t>
          </a:r>
          <a:r>
            <a:rPr lang="it-IT" sz="2000" b="0" kern="1200" dirty="0">
              <a:latin typeface="Franklin Gothic Demi" panose="020B0502020104020203"/>
            </a:rPr>
            <a:t> e Update </a:t>
          </a:r>
          <a:r>
            <a:rPr lang="it-IT" sz="2000" b="0" kern="1200" dirty="0" err="1">
              <a:latin typeface="Franklin Gothic Demi" panose="020B0502020104020203"/>
            </a:rPr>
            <a:t>properties</a:t>
          </a:r>
          <a:endParaRPr lang="it-IT" sz="2000" b="0" kern="1200" dirty="0"/>
        </a:p>
      </dsp:txBody>
      <dsp:txXfrm>
        <a:off x="148107" y="418950"/>
        <a:ext cx="4919572" cy="282688"/>
      </dsp:txXfrm>
    </dsp:sp>
    <dsp:sp modelId="{BDAE6A49-E2B0-49C9-9F7F-C606306E5E69}">
      <dsp:nvSpPr>
        <dsp:cNvPr id="0" name=""/>
        <dsp:cNvSpPr/>
      </dsp:nvSpPr>
      <dsp:spPr>
        <a:xfrm>
          <a:off x="132814" y="1484236"/>
          <a:ext cx="4950158" cy="1096461"/>
        </a:xfrm>
        <a:prstGeom prst="rect">
          <a:avLst/>
        </a:prstGeom>
        <a:noFill/>
        <a:ln>
          <a:noFill/>
        </a:ln>
        <a:effectLst/>
      </dsp:spPr>
      <dsp:style>
        <a:lnRef idx="0">
          <a:scrgbClr r="0" g="0" b="0"/>
        </a:lnRef>
        <a:fillRef idx="0">
          <a:scrgbClr r="0" g="0" b="0"/>
        </a:fillRef>
        <a:effectRef idx="0">
          <a:scrgbClr r="0" g="0" b="0"/>
        </a:effectRef>
        <a:fontRef idx="minor"/>
      </dsp:style>
    </dsp:sp>
    <dsp:sp modelId="{7BA99F82-2051-4D04-9497-276C3F7320FE}">
      <dsp:nvSpPr>
        <dsp:cNvPr id="0" name=""/>
        <dsp:cNvSpPr/>
      </dsp:nvSpPr>
      <dsp:spPr>
        <a:xfrm>
          <a:off x="2607893" y="1159116"/>
          <a:ext cx="0" cy="250619"/>
        </a:xfrm>
        <a:prstGeom prst="line">
          <a:avLst/>
        </a:prstGeom>
        <a:noFill/>
        <a:ln w="12700" cap="rnd" cmpd="sng" algn="ctr">
          <a:solidFill>
            <a:schemeClr val="accent1">
              <a:shade val="90000"/>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2DBA606-0ABE-4CCE-9656-D5FFB9D29AFE}">
      <dsp:nvSpPr>
        <dsp:cNvPr id="0" name=""/>
        <dsp:cNvSpPr/>
      </dsp:nvSpPr>
      <dsp:spPr>
        <a:xfrm>
          <a:off x="2576566" y="1096461"/>
          <a:ext cx="62654" cy="62654"/>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8DAFE-FE6D-49A5-9FD5-C88100489A1A}">
      <dsp:nvSpPr>
        <dsp:cNvPr id="0" name=""/>
        <dsp:cNvSpPr/>
      </dsp:nvSpPr>
      <dsp:spPr>
        <a:xfrm>
          <a:off x="132814" y="403657"/>
          <a:ext cx="4950158" cy="313274"/>
        </a:xfrm>
        <a:prstGeom prst="round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1">
          <a:noAutofit/>
        </a:bodyPr>
        <a:lstStyle/>
        <a:p>
          <a:pPr marL="0" lvl="0" indent="0" algn="ctr" defTabSz="889000" rtl="0">
            <a:lnSpc>
              <a:spcPct val="90000"/>
            </a:lnSpc>
            <a:spcBef>
              <a:spcPct val="0"/>
            </a:spcBef>
            <a:spcAft>
              <a:spcPct val="35000"/>
            </a:spcAft>
            <a:buNone/>
          </a:pPr>
          <a:r>
            <a:rPr lang="it-IT" sz="2000" b="0" kern="1200" dirty="0">
              <a:latin typeface="Franklin Gothic Demi" panose="020B0502020104020203"/>
            </a:rPr>
            <a:t>Gerarchie su Date e Prodotti</a:t>
          </a:r>
          <a:endParaRPr lang="it-IT" sz="2000" b="0" kern="1200" dirty="0"/>
        </a:p>
      </dsp:txBody>
      <dsp:txXfrm>
        <a:off x="148107" y="418950"/>
        <a:ext cx="4919572" cy="282688"/>
      </dsp:txXfrm>
    </dsp:sp>
    <dsp:sp modelId="{BDAE6A49-E2B0-49C9-9F7F-C606306E5E69}">
      <dsp:nvSpPr>
        <dsp:cNvPr id="0" name=""/>
        <dsp:cNvSpPr/>
      </dsp:nvSpPr>
      <dsp:spPr>
        <a:xfrm>
          <a:off x="132814" y="1484236"/>
          <a:ext cx="4950158" cy="1096461"/>
        </a:xfrm>
        <a:prstGeom prst="rect">
          <a:avLst/>
        </a:prstGeom>
        <a:noFill/>
        <a:ln>
          <a:noFill/>
        </a:ln>
        <a:effectLst/>
      </dsp:spPr>
      <dsp:style>
        <a:lnRef idx="0">
          <a:scrgbClr r="0" g="0" b="0"/>
        </a:lnRef>
        <a:fillRef idx="0">
          <a:scrgbClr r="0" g="0" b="0"/>
        </a:fillRef>
        <a:effectRef idx="0">
          <a:scrgbClr r="0" g="0" b="0"/>
        </a:effectRef>
        <a:fontRef idx="minor"/>
      </dsp:style>
    </dsp:sp>
    <dsp:sp modelId="{7BA99F82-2051-4D04-9497-276C3F7320FE}">
      <dsp:nvSpPr>
        <dsp:cNvPr id="0" name=""/>
        <dsp:cNvSpPr/>
      </dsp:nvSpPr>
      <dsp:spPr>
        <a:xfrm>
          <a:off x="2607893" y="1159116"/>
          <a:ext cx="0" cy="250619"/>
        </a:xfrm>
        <a:prstGeom prst="line">
          <a:avLst/>
        </a:prstGeom>
        <a:noFill/>
        <a:ln w="12700" cap="rnd" cmpd="sng" algn="ctr">
          <a:solidFill>
            <a:schemeClr val="accent1">
              <a:shade val="90000"/>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2DBA606-0ABE-4CCE-9656-D5FFB9D29AFE}">
      <dsp:nvSpPr>
        <dsp:cNvPr id="0" name=""/>
        <dsp:cNvSpPr/>
      </dsp:nvSpPr>
      <dsp:spPr>
        <a:xfrm>
          <a:off x="2576566" y="1096461"/>
          <a:ext cx="62654" cy="62654"/>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8DAFE-FE6D-49A5-9FD5-C88100489A1A}">
      <dsp:nvSpPr>
        <dsp:cNvPr id="0" name=""/>
        <dsp:cNvSpPr/>
      </dsp:nvSpPr>
      <dsp:spPr>
        <a:xfrm>
          <a:off x="301863" y="339097"/>
          <a:ext cx="11250854" cy="263170"/>
        </a:xfrm>
        <a:prstGeom prst="round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1">
          <a:noAutofit/>
        </a:bodyPr>
        <a:lstStyle/>
        <a:p>
          <a:pPr marL="0" lvl="0" indent="0" algn="ctr" defTabSz="889000" rtl="0">
            <a:lnSpc>
              <a:spcPct val="90000"/>
            </a:lnSpc>
            <a:spcBef>
              <a:spcPct val="0"/>
            </a:spcBef>
            <a:spcAft>
              <a:spcPct val="35000"/>
            </a:spcAft>
            <a:buNone/>
          </a:pPr>
          <a:r>
            <a:rPr lang="it-IT" sz="2000" b="0" kern="1200" dirty="0">
              <a:latin typeface="Franklin Gothic Demi" panose="020B0502020104020203"/>
            </a:rPr>
            <a:t>DAX CALCULATIONS</a:t>
          </a:r>
          <a:endParaRPr lang="it-IT" sz="2000" b="0" kern="1200" dirty="0"/>
        </a:p>
      </dsp:txBody>
      <dsp:txXfrm>
        <a:off x="314710" y="351944"/>
        <a:ext cx="11225160" cy="237476"/>
      </dsp:txXfrm>
    </dsp:sp>
    <dsp:sp modelId="{BDAE6A49-E2B0-49C9-9F7F-C606306E5E69}">
      <dsp:nvSpPr>
        <dsp:cNvPr id="0" name=""/>
        <dsp:cNvSpPr/>
      </dsp:nvSpPr>
      <dsp:spPr>
        <a:xfrm>
          <a:off x="301863" y="1246851"/>
          <a:ext cx="11250854" cy="921096"/>
        </a:xfrm>
        <a:prstGeom prst="rect">
          <a:avLst/>
        </a:prstGeom>
        <a:noFill/>
        <a:ln>
          <a:noFill/>
        </a:ln>
        <a:effectLst/>
      </dsp:spPr>
      <dsp:style>
        <a:lnRef idx="0">
          <a:scrgbClr r="0" g="0" b="0"/>
        </a:lnRef>
        <a:fillRef idx="0">
          <a:scrgbClr r="0" g="0" b="0"/>
        </a:fillRef>
        <a:effectRef idx="0">
          <a:scrgbClr r="0" g="0" b="0"/>
        </a:effectRef>
        <a:fontRef idx="minor"/>
      </dsp:style>
    </dsp:sp>
    <dsp:sp modelId="{7BA99F82-2051-4D04-9497-276C3F7320FE}">
      <dsp:nvSpPr>
        <dsp:cNvPr id="0" name=""/>
        <dsp:cNvSpPr/>
      </dsp:nvSpPr>
      <dsp:spPr>
        <a:xfrm>
          <a:off x="5927290" y="973730"/>
          <a:ext cx="0" cy="210536"/>
        </a:xfrm>
        <a:prstGeom prst="line">
          <a:avLst/>
        </a:prstGeom>
        <a:noFill/>
        <a:ln w="12700" cap="rnd" cmpd="sng" algn="ctr">
          <a:solidFill>
            <a:schemeClr val="accent1">
              <a:shade val="90000"/>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2DBA606-0ABE-4CCE-9656-D5FFB9D29AFE}">
      <dsp:nvSpPr>
        <dsp:cNvPr id="0" name=""/>
        <dsp:cNvSpPr/>
      </dsp:nvSpPr>
      <dsp:spPr>
        <a:xfrm>
          <a:off x="5900973" y="921096"/>
          <a:ext cx="52634" cy="52634"/>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AA9324D-736C-4521-902C-E171322BDD32}" type="datetime1">
              <a:rPr lang="it-IT" smtClean="0"/>
              <a:pPr rtl="0"/>
              <a:t>21/03/2026</a:t>
            </a:fld>
            <a:endParaRPr lang="en-US"/>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pPr rtl="0"/>
              <a:t>‹N›</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C9CDE5A0-E0EA-4E79-8A9D-490C77C3E1D1}" type="datetime1">
              <a:rPr lang="it-IT" smtClean="0"/>
              <a:pPr rtl="0"/>
              <a:t>21/03/2026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t"/>
              <a:t>Fare clic per modificare gli stili del testo dello schema</a:t>
            </a:r>
            <a:endParaRPr lang="en-US"/>
          </a:p>
          <a:p>
            <a:pPr lvl="1" rtl="0"/>
            <a:r>
              <a:rPr lang="it"/>
              <a:t>Secondo livello</a:t>
            </a:r>
          </a:p>
          <a:p>
            <a:pPr lvl="2" rtl="0"/>
            <a:r>
              <a:rPr lang="it"/>
              <a:t>Terzo livello</a:t>
            </a:r>
          </a:p>
          <a:p>
            <a:pPr lvl="3" rtl="0"/>
            <a:r>
              <a:rPr lang="it"/>
              <a:t>Quarto livello</a:t>
            </a:r>
          </a:p>
          <a:p>
            <a:pPr lvl="4" rtl="0"/>
            <a:r>
              <a:rPr lang="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pPr rtl="0"/>
              <a:t>‹N›</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data 3"/>
          <p:cNvSpPr>
            <a:spLocks noGrp="1"/>
          </p:cNvSpPr>
          <p:nvPr>
            <p:ph type="dt" idx="1"/>
          </p:nvPr>
        </p:nvSpPr>
        <p:spPr/>
        <p:txBody>
          <a:bodyPr/>
          <a:lstStyle/>
          <a:p>
            <a:pPr rtl="0"/>
            <a:fld id="{C9CDE5A0-E0EA-4E79-8A9D-490C77C3E1D1}" type="datetime1">
              <a:rPr lang="it-IT" smtClean="0"/>
              <a:pPr rtl="0"/>
              <a:t>21/03/2026</a:t>
            </a:fld>
            <a:endParaRPr lang="en-US"/>
          </a:p>
        </p:txBody>
      </p:sp>
      <p:sp>
        <p:nvSpPr>
          <p:cNvPr id="5" name="Segnaposto numero diapositiva 4"/>
          <p:cNvSpPr>
            <a:spLocks noGrp="1"/>
          </p:cNvSpPr>
          <p:nvPr>
            <p:ph type="sldNum" sz="quarter" idx="5"/>
          </p:nvPr>
        </p:nvSpPr>
        <p:spPr/>
        <p:txBody>
          <a:bodyPr/>
          <a:lstStyle/>
          <a:p>
            <a:pPr rtl="0"/>
            <a:fld id="{01B41D33-19C8-4450-B3C5-BE83E9C8F0BC}" type="slidenum">
              <a:rPr lang="en-US" smtClean="0"/>
              <a:pPr rtl="0"/>
              <a:t>12</a:t>
            </a:fld>
            <a:endParaRPr lang="en-US"/>
          </a:p>
        </p:txBody>
      </p:sp>
    </p:spTree>
    <p:extLst>
      <p:ext uri="{BB962C8B-B14F-4D97-AF65-F5344CB8AC3E}">
        <p14:creationId xmlns:p14="http://schemas.microsoft.com/office/powerpoint/2010/main" val="2497749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7" name="Rettango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o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it-IT"/>
              <a:t>Fare clic per modificare lo stile del titolo dello schema</a:t>
            </a:r>
            <a:endParaRPr lang="en-US"/>
          </a:p>
        </p:txBody>
      </p:sp>
      <p:sp>
        <p:nvSpPr>
          <p:cNvPr id="3" name="Sottotitolo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it-IT"/>
              <a:t>Fare clic per modificare lo stile del sottotitolo dello schema</a:t>
            </a:r>
            <a:endParaRPr lang="en-US"/>
          </a:p>
        </p:txBody>
      </p:sp>
      <p:sp>
        <p:nvSpPr>
          <p:cNvPr id="8" name="Segnaposto dat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BE6A9DFD-D01D-46F2-9F5D-64CD124556CA}" type="datetime1">
              <a:rPr lang="it-IT" smtClean="0"/>
              <a:pPr rtl="0"/>
              <a:t>21/03/2026</a:t>
            </a:fld>
            <a:endParaRPr lang="en-US"/>
          </a:p>
        </p:txBody>
      </p:sp>
      <p:sp>
        <p:nvSpPr>
          <p:cNvPr id="9" name="Segnaposto piè di pagina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a:p>
        </p:txBody>
      </p:sp>
      <p:sp>
        <p:nvSpPr>
          <p:cNvPr id="10" name="Segnaposto numero diapositiva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581192" y="702156"/>
            <a:ext cx="11029616" cy="1188720"/>
          </a:xfrm>
        </p:spPr>
        <p:txBody>
          <a:bodyPr rtlCol="0"/>
          <a:lstStyle/>
          <a:p>
            <a:pPr rtl="0"/>
            <a:r>
              <a:rPr lang="it-IT"/>
              <a:t>Fare clic per modificare lo stile del titolo dello schema</a:t>
            </a:r>
            <a:endParaRPr lang="en-US"/>
          </a:p>
        </p:txBody>
      </p:sp>
      <p:sp>
        <p:nvSpPr>
          <p:cNvPr id="3" name="Segnaposto contenuto 2"/>
          <p:cNvSpPr>
            <a:spLocks noGrp="1"/>
          </p:cNvSpPr>
          <p:nvPr>
            <p:ph idx="1"/>
          </p:nvPr>
        </p:nvSpPr>
        <p:spPr>
          <a:xfrm>
            <a:off x="581192" y="2340864"/>
            <a:ext cx="11029615" cy="3634486"/>
          </a:xfrm>
        </p:spPr>
        <p:txBody>
          <a:bodyPr rtlCol="0"/>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8" name="Segnaposto dat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FC16C3F1-EAB4-40C7-A804-E4164A432ACC}" type="datetime1">
              <a:rPr lang="it-IT" smtClean="0"/>
              <a:pPr rtl="0"/>
              <a:t>21/03/2026</a:t>
            </a:fld>
            <a:endParaRPr lang="en-US"/>
          </a:p>
        </p:txBody>
      </p:sp>
      <p:sp>
        <p:nvSpPr>
          <p:cNvPr id="9" name="Segnaposto piè di pagina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a:p>
        </p:txBody>
      </p:sp>
      <p:sp>
        <p:nvSpPr>
          <p:cNvPr id="10" name="Segnaposto numero diapositiva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8" name="Rettango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o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it-IT"/>
              <a:t>Fare clic per modificare lo stile del titolo dello schema</a:t>
            </a:r>
            <a:endParaRPr lang="en-US"/>
          </a:p>
        </p:txBody>
      </p:sp>
      <p:sp>
        <p:nvSpPr>
          <p:cNvPr id="3" name="Segnaposto tes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a:t>Fare clic per modificare gli stili del testo dello schema</a:t>
            </a:r>
          </a:p>
        </p:txBody>
      </p:sp>
      <p:sp>
        <p:nvSpPr>
          <p:cNvPr id="7" name="Segnaposto dat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593AB179-A7B4-4F53-8FBC-DA521D7752CD}" type="datetime1">
              <a:rPr lang="it-IT" smtClean="0"/>
              <a:pPr rtl="0"/>
              <a:t>21/03/2026</a:t>
            </a:fld>
            <a:endParaRPr lang="en-US"/>
          </a:p>
        </p:txBody>
      </p:sp>
      <p:sp>
        <p:nvSpPr>
          <p:cNvPr id="9" name="Segnaposto piè di pagina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a:p>
        </p:txBody>
      </p:sp>
      <p:sp>
        <p:nvSpPr>
          <p:cNvPr id="10" name="Segnaposto numero diapositiva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581193" y="729658"/>
            <a:ext cx="11029616" cy="988332"/>
          </a:xfrm>
        </p:spPr>
        <p:txBody>
          <a:bodyPr rtlCol="0"/>
          <a:lstStyle/>
          <a:p>
            <a:pPr rtl="0"/>
            <a:r>
              <a:rPr lang="it-IT"/>
              <a:t>Fare clic per modificare lo stile del titolo dello schema</a:t>
            </a:r>
            <a:endParaRPr lang="en-US"/>
          </a:p>
        </p:txBody>
      </p:sp>
      <p:sp>
        <p:nvSpPr>
          <p:cNvPr id="3" name="Segnaposto contenuto 2"/>
          <p:cNvSpPr>
            <a:spLocks noGrp="1"/>
          </p:cNvSpPr>
          <p:nvPr>
            <p:ph sz="half" idx="1"/>
          </p:nvPr>
        </p:nvSpPr>
        <p:spPr>
          <a:xfrm>
            <a:off x="581193" y="2228003"/>
            <a:ext cx="5194767" cy="3633047"/>
          </a:xfrm>
        </p:spPr>
        <p:txBody>
          <a:bodyPr rtlCol="0">
            <a:normAutofit/>
          </a:body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4" name="Segnaposto contenuto 3"/>
          <p:cNvSpPr>
            <a:spLocks noGrp="1"/>
          </p:cNvSpPr>
          <p:nvPr>
            <p:ph sz="half" idx="2"/>
          </p:nvPr>
        </p:nvSpPr>
        <p:spPr>
          <a:xfrm>
            <a:off x="6416039" y="2228003"/>
            <a:ext cx="5194769" cy="3633047"/>
          </a:xfrm>
        </p:spPr>
        <p:txBody>
          <a:bodyPr rtlCol="0">
            <a:normAutofit/>
          </a:body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5" name="Segnaposto data 4"/>
          <p:cNvSpPr>
            <a:spLocks noGrp="1"/>
          </p:cNvSpPr>
          <p:nvPr>
            <p:ph type="dt" sz="half" idx="10"/>
          </p:nvPr>
        </p:nvSpPr>
        <p:spPr/>
        <p:txBody>
          <a:bodyPr rtlCol="0"/>
          <a:lstStyle/>
          <a:p>
            <a:pPr rtl="0"/>
            <a:fld id="{2BC475E4-8A13-4296-8284-4EFC212D9D0C}" type="datetime1">
              <a:rPr lang="it-IT" smtClean="0"/>
              <a:pPr rtl="0"/>
              <a:t>21/03/2026</a:t>
            </a:fld>
            <a:endParaRPr lang="en-US"/>
          </a:p>
        </p:txBody>
      </p:sp>
      <p:sp>
        <p:nvSpPr>
          <p:cNvPr id="6" name="Segnaposto piè di pagina 5"/>
          <p:cNvSpPr>
            <a:spLocks noGrp="1"/>
          </p:cNvSpPr>
          <p:nvPr>
            <p:ph type="ftr" sz="quarter" idx="11"/>
          </p:nvPr>
        </p:nvSpPr>
        <p:spPr/>
        <p:txBody>
          <a:bodyPr rtlCol="0"/>
          <a:lstStyle/>
          <a:p>
            <a:pPr rtl="0"/>
            <a:endParaRPr lang="en-US"/>
          </a:p>
        </p:txBody>
      </p:sp>
      <p:sp>
        <p:nvSpPr>
          <p:cNvPr id="7" name="Segnaposto numero diapositiva 6"/>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fronto">
    <p:spTree>
      <p:nvGrpSpPr>
        <p:cNvPr id="1" name=""/>
        <p:cNvGrpSpPr/>
        <p:nvPr/>
      </p:nvGrpSpPr>
      <p:grpSpPr>
        <a:xfrm>
          <a:off x="0" y="0"/>
          <a:ext cx="0" cy="0"/>
          <a:chOff x="0" y="0"/>
          <a:chExt cx="0" cy="0"/>
        </a:xfrm>
      </p:grpSpPr>
      <p:sp>
        <p:nvSpPr>
          <p:cNvPr id="12" name="Titolo 1"/>
          <p:cNvSpPr>
            <a:spLocks noGrp="1"/>
          </p:cNvSpPr>
          <p:nvPr>
            <p:ph type="title"/>
          </p:nvPr>
        </p:nvSpPr>
        <p:spPr>
          <a:xfrm>
            <a:off x="581193" y="729658"/>
            <a:ext cx="11029616" cy="988332"/>
          </a:xfrm>
        </p:spPr>
        <p:txBody>
          <a:bodyPr rtlCol="0"/>
          <a:lstStyle/>
          <a:p>
            <a:pPr rtl="0"/>
            <a:r>
              <a:rPr lang="it-IT"/>
              <a:t>Fare clic per modificare lo stile del titolo dello schema</a:t>
            </a:r>
            <a:endParaRPr lang="en-US"/>
          </a:p>
        </p:txBody>
      </p:sp>
      <p:sp>
        <p:nvSpPr>
          <p:cNvPr id="3" name="Segnaposto testo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a:t>Fare clic per modificare gli stili del testo dello schema</a:t>
            </a:r>
          </a:p>
        </p:txBody>
      </p:sp>
      <p:sp>
        <p:nvSpPr>
          <p:cNvPr id="4" name="Segnaposto contenuto 3"/>
          <p:cNvSpPr>
            <a:spLocks noGrp="1"/>
          </p:cNvSpPr>
          <p:nvPr>
            <p:ph sz="half" idx="2"/>
          </p:nvPr>
        </p:nvSpPr>
        <p:spPr>
          <a:xfrm>
            <a:off x="581194" y="2926052"/>
            <a:ext cx="5194766" cy="2934999"/>
          </a:xfrm>
        </p:spPr>
        <p:txBody>
          <a:bodyPr rtlCol="0" anchor="t">
            <a:normAutofit/>
          </a:body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5" name="Segnaposto testo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it-IT"/>
              <a:t>Fare clic per modificare gli stili del testo dello schema</a:t>
            </a:r>
          </a:p>
        </p:txBody>
      </p:sp>
      <p:sp>
        <p:nvSpPr>
          <p:cNvPr id="6" name="Segnaposto contenuto 5"/>
          <p:cNvSpPr>
            <a:spLocks noGrp="1"/>
          </p:cNvSpPr>
          <p:nvPr>
            <p:ph sz="quarter" idx="4"/>
          </p:nvPr>
        </p:nvSpPr>
        <p:spPr>
          <a:xfrm>
            <a:off x="6416037" y="2926052"/>
            <a:ext cx="5194771" cy="2934999"/>
          </a:xfrm>
        </p:spPr>
        <p:txBody>
          <a:bodyPr rtlCol="0" anchor="t">
            <a:normAutofit/>
          </a:body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7" name="Segnaposto data 6"/>
          <p:cNvSpPr>
            <a:spLocks noGrp="1"/>
          </p:cNvSpPr>
          <p:nvPr>
            <p:ph type="dt" sz="half" idx="10"/>
          </p:nvPr>
        </p:nvSpPr>
        <p:spPr/>
        <p:txBody>
          <a:bodyPr rtlCol="0"/>
          <a:lstStyle/>
          <a:p>
            <a:pPr rtl="0"/>
            <a:fld id="{2EDAC308-8BE6-45DD-8B68-B04D02410B09}" type="datetime1">
              <a:rPr lang="it-IT" smtClean="0"/>
              <a:pPr rtl="0"/>
              <a:t>21/03/2026</a:t>
            </a:fld>
            <a:endParaRPr lang="en-US"/>
          </a:p>
        </p:txBody>
      </p:sp>
      <p:sp>
        <p:nvSpPr>
          <p:cNvPr id="8" name="Segnaposto piè di pagina 7"/>
          <p:cNvSpPr>
            <a:spLocks noGrp="1"/>
          </p:cNvSpPr>
          <p:nvPr>
            <p:ph type="ftr" sz="quarter" idx="11"/>
          </p:nvPr>
        </p:nvSpPr>
        <p:spPr/>
        <p:txBody>
          <a:bodyPr rtlCol="0"/>
          <a:lstStyle/>
          <a:p>
            <a:pPr rtl="0"/>
            <a:endParaRPr lang="en-US"/>
          </a:p>
        </p:txBody>
      </p:sp>
      <p:sp>
        <p:nvSpPr>
          <p:cNvPr id="9" name="Segnaposto numero diapositiva 8"/>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8" name="Titolo 1"/>
          <p:cNvSpPr>
            <a:spLocks noGrp="1"/>
          </p:cNvSpPr>
          <p:nvPr>
            <p:ph type="title"/>
          </p:nvPr>
        </p:nvSpPr>
        <p:spPr>
          <a:xfrm>
            <a:off x="575894" y="729658"/>
            <a:ext cx="11029616" cy="988332"/>
          </a:xfrm>
        </p:spPr>
        <p:txBody>
          <a:bodyPr rtlCol="0"/>
          <a:lstStyle/>
          <a:p>
            <a:pPr rtl="0"/>
            <a:r>
              <a:rPr lang="it-IT"/>
              <a:t>Fare clic per modificare lo stile del titolo dello schema</a:t>
            </a:r>
            <a:endParaRPr lang="en-US"/>
          </a:p>
        </p:txBody>
      </p:sp>
      <p:sp>
        <p:nvSpPr>
          <p:cNvPr id="3" name="Segnaposto data 2"/>
          <p:cNvSpPr>
            <a:spLocks noGrp="1"/>
          </p:cNvSpPr>
          <p:nvPr>
            <p:ph type="dt" sz="half" idx="10"/>
          </p:nvPr>
        </p:nvSpPr>
        <p:spPr/>
        <p:txBody>
          <a:bodyPr rtlCol="0"/>
          <a:lstStyle/>
          <a:p>
            <a:pPr rtl="0"/>
            <a:fld id="{85254269-30BB-4415-A3F6-02D389D24D09}" type="datetime1">
              <a:rPr lang="it-IT" smtClean="0"/>
              <a:pPr rtl="0"/>
              <a:t>21/03/2026</a:t>
            </a:fld>
            <a:endParaRPr lang="en-US"/>
          </a:p>
        </p:txBody>
      </p:sp>
      <p:sp>
        <p:nvSpPr>
          <p:cNvPr id="4" name="Segnaposto piè di pagina 3"/>
          <p:cNvSpPr>
            <a:spLocks noGrp="1"/>
          </p:cNvSpPr>
          <p:nvPr>
            <p:ph type="ftr" sz="quarter" idx="11"/>
          </p:nvPr>
        </p:nvSpPr>
        <p:spPr/>
        <p:txBody>
          <a:bodyPr rtlCol="0"/>
          <a:lstStyle/>
          <a:p>
            <a:pPr rtl="0"/>
            <a:endParaRPr lang="en-US"/>
          </a:p>
        </p:txBody>
      </p:sp>
      <p:sp>
        <p:nvSpPr>
          <p:cNvPr id="5" name="Segnaposto numero diapositiva 4"/>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rtlCol="0"/>
          <a:lstStyle/>
          <a:p>
            <a:pPr rtl="0"/>
            <a:fld id="{60ACBBB0-50A8-412C-AC83-6C1A96035CC9}" type="datetime1">
              <a:rPr lang="it-IT" smtClean="0"/>
              <a:pPr rtl="0"/>
              <a:t>21/03/2026</a:t>
            </a:fld>
            <a:endParaRPr lang="en-US"/>
          </a:p>
        </p:txBody>
      </p:sp>
      <p:sp>
        <p:nvSpPr>
          <p:cNvPr id="3" name="Segnaposto piè di pagina 2"/>
          <p:cNvSpPr>
            <a:spLocks noGrp="1"/>
          </p:cNvSpPr>
          <p:nvPr>
            <p:ph type="ftr" sz="quarter" idx="11"/>
          </p:nvPr>
        </p:nvSpPr>
        <p:spPr/>
        <p:txBody>
          <a:bodyPr rtlCol="0"/>
          <a:lstStyle/>
          <a:p>
            <a:pPr rtl="0"/>
            <a:endParaRPr lang="en-US"/>
          </a:p>
        </p:txBody>
      </p:sp>
      <p:sp>
        <p:nvSpPr>
          <p:cNvPr id="4" name="Segnaposto numero diapositiva 3"/>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9" name="Rettango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o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it-IT"/>
              <a:t>Fare clic per modificare lo stile del titolo dello schema</a:t>
            </a:r>
            <a:endParaRPr lang="en-US"/>
          </a:p>
        </p:txBody>
      </p:sp>
      <p:sp>
        <p:nvSpPr>
          <p:cNvPr id="3" name="Segnaposto contenut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4" name="Segnaposto tes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a:t>Fare clic per modificare gli stili del testo dello schema</a:t>
            </a:r>
          </a:p>
        </p:txBody>
      </p:sp>
      <p:sp>
        <p:nvSpPr>
          <p:cNvPr id="8" name="Segnaposto dat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44D8AF99-1FFE-484F-999D-5C9E0DFBE297}" type="datetime1">
              <a:rPr lang="it-IT" smtClean="0"/>
              <a:pPr rtl="0"/>
              <a:t>21/03/2026</a:t>
            </a:fld>
            <a:endParaRPr lang="en-US"/>
          </a:p>
        </p:txBody>
      </p:sp>
      <p:sp>
        <p:nvSpPr>
          <p:cNvPr id="10" name="Segnaposto piè di pa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a:p>
        </p:txBody>
      </p:sp>
      <p:sp>
        <p:nvSpPr>
          <p:cNvPr id="11" name="Segnaposto numero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it-IT"/>
              <a:t>Fare clic per modificare lo stile del titolo dello schema</a:t>
            </a:r>
            <a:endParaRPr lang="en-US"/>
          </a:p>
        </p:txBody>
      </p:sp>
      <p:sp>
        <p:nvSpPr>
          <p:cNvPr id="3" name="Segnaposto immagine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it-IT"/>
              <a:t>Fare clic sull'icona per inserire un'immagine</a:t>
            </a:r>
            <a:endParaRPr lang="en-US"/>
          </a:p>
        </p:txBody>
      </p:sp>
      <p:sp>
        <p:nvSpPr>
          <p:cNvPr id="4" name="Segnaposto tes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a:t>Fare clic per modificare gli stili del testo dello schema</a:t>
            </a:r>
          </a:p>
        </p:txBody>
      </p:sp>
      <p:sp>
        <p:nvSpPr>
          <p:cNvPr id="5" name="Segnaposto data 4"/>
          <p:cNvSpPr>
            <a:spLocks noGrp="1"/>
          </p:cNvSpPr>
          <p:nvPr>
            <p:ph type="dt" sz="half" idx="10"/>
          </p:nvPr>
        </p:nvSpPr>
        <p:spPr/>
        <p:txBody>
          <a:bodyPr rtlCol="0"/>
          <a:lstStyle/>
          <a:p>
            <a:pPr rtl="0"/>
            <a:fld id="{8DCB91F3-7F1A-4CB0-9F29-9C199284DBA2}" type="datetime1">
              <a:rPr lang="it-IT" smtClean="0"/>
              <a:pPr rtl="0"/>
              <a:t>21/03/2026</a:t>
            </a:fld>
            <a:endParaRPr lang="en-US"/>
          </a:p>
        </p:txBody>
      </p:sp>
      <p:sp>
        <p:nvSpPr>
          <p:cNvPr id="6" name="Segnaposto piè di pagina 5"/>
          <p:cNvSpPr>
            <a:spLocks noGrp="1"/>
          </p:cNvSpPr>
          <p:nvPr>
            <p:ph type="ftr" sz="quarter" idx="11"/>
          </p:nvPr>
        </p:nvSpPr>
        <p:spPr/>
        <p:txBody>
          <a:bodyPr rtlCol="0"/>
          <a:lstStyle/>
          <a:p>
            <a:pPr algn="l" rtl="0"/>
            <a:endParaRPr lang="en-US"/>
          </a:p>
        </p:txBody>
      </p:sp>
      <p:sp>
        <p:nvSpPr>
          <p:cNvPr id="7" name="Segnaposto numero diapositiva 6"/>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9" name="Titolo 1"/>
          <p:cNvSpPr>
            <a:spLocks noGrp="1"/>
          </p:cNvSpPr>
          <p:nvPr>
            <p:ph type="title"/>
          </p:nvPr>
        </p:nvSpPr>
        <p:spPr>
          <a:xfrm>
            <a:off x="581192" y="702156"/>
            <a:ext cx="11029616" cy="1013800"/>
          </a:xfrm>
        </p:spPr>
        <p:txBody>
          <a:bodyPr rtlCol="0"/>
          <a:lstStyle/>
          <a:p>
            <a:pPr rtl="0"/>
            <a:r>
              <a:rPr lang="it-IT"/>
              <a:t>Fare clic per modificare lo stile del titolo dello schema</a:t>
            </a:r>
            <a:endParaRPr lang="en-US"/>
          </a:p>
        </p:txBody>
      </p:sp>
      <p:sp>
        <p:nvSpPr>
          <p:cNvPr id="3" name="Segnaposto testo verticale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4" name="Segnaposto data 3"/>
          <p:cNvSpPr>
            <a:spLocks noGrp="1"/>
          </p:cNvSpPr>
          <p:nvPr>
            <p:ph type="dt" sz="half" idx="10"/>
          </p:nvPr>
        </p:nvSpPr>
        <p:spPr/>
        <p:txBody>
          <a:bodyPr rtlCol="0"/>
          <a:lstStyle/>
          <a:p>
            <a:pPr rtl="0"/>
            <a:fld id="{D6985F1D-99DE-4FE8-9093-377AC3915E25}" type="datetime1">
              <a:rPr lang="it-IT" smtClean="0"/>
              <a:pPr rtl="0"/>
              <a:t>21/03/2026</a:t>
            </a:fld>
            <a:endParaRPr lang="en-US"/>
          </a:p>
        </p:txBody>
      </p:sp>
      <p:sp>
        <p:nvSpPr>
          <p:cNvPr id="5" name="Segnaposto piè di pagina 4"/>
          <p:cNvSpPr>
            <a:spLocks noGrp="1"/>
          </p:cNvSpPr>
          <p:nvPr>
            <p:ph type="ftr" sz="quarter" idx="11"/>
          </p:nvPr>
        </p:nvSpPr>
        <p:spPr/>
        <p:txBody>
          <a:bodyPr rtlCol="0"/>
          <a:lstStyle/>
          <a:p>
            <a:pPr rtl="0"/>
            <a:endParaRPr lang="en-US"/>
          </a:p>
        </p:txBody>
      </p:sp>
      <p:sp>
        <p:nvSpPr>
          <p:cNvPr id="6" name="Segnaposto numero diapositiva 5"/>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olo verticale e testo">
    <p:spTree>
      <p:nvGrpSpPr>
        <p:cNvPr id="1" name=""/>
        <p:cNvGrpSpPr/>
        <p:nvPr/>
      </p:nvGrpSpPr>
      <p:grpSpPr>
        <a:xfrm>
          <a:off x="0" y="0"/>
          <a:ext cx="0" cy="0"/>
          <a:chOff x="0" y="0"/>
          <a:chExt cx="0" cy="0"/>
        </a:xfrm>
      </p:grpSpPr>
      <p:sp>
        <p:nvSpPr>
          <p:cNvPr id="7" name="Rettango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olo verticale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it-IT"/>
              <a:t>Fare clic per modificare lo stile del titolo dello schema</a:t>
            </a:r>
            <a:endParaRPr lang="en-US"/>
          </a:p>
        </p:txBody>
      </p:sp>
      <p:sp>
        <p:nvSpPr>
          <p:cNvPr id="3" name="Segnaposto testo verticale 2"/>
          <p:cNvSpPr>
            <a:spLocks noGrp="1"/>
          </p:cNvSpPr>
          <p:nvPr>
            <p:ph type="body" orient="vert" idx="1"/>
          </p:nvPr>
        </p:nvSpPr>
        <p:spPr>
          <a:xfrm>
            <a:off x="774923" y="863600"/>
            <a:ext cx="7161625" cy="4807326"/>
          </a:xfrm>
        </p:spPr>
        <p:txBody>
          <a:bodyPr vert="eaVert" rtlCol="0" anchor="t"/>
          <a:lstStyle/>
          <a:p>
            <a:pPr lvl="0" rtl="0"/>
            <a:r>
              <a:rPr lang="it-IT"/>
              <a:t>Fare clic per modificare gli stili del testo dello schema</a:t>
            </a:r>
          </a:p>
          <a:p>
            <a:pPr lvl="1" rtl="0"/>
            <a:r>
              <a:rPr lang="it-IT"/>
              <a:t>Secondo livello</a:t>
            </a:r>
          </a:p>
          <a:p>
            <a:pPr lvl="2" rtl="0"/>
            <a:r>
              <a:rPr lang="it-IT"/>
              <a:t>Terzo livello</a:t>
            </a:r>
          </a:p>
          <a:p>
            <a:pPr lvl="3" rtl="0"/>
            <a:r>
              <a:rPr lang="it-IT"/>
              <a:t>Quarto livello</a:t>
            </a:r>
          </a:p>
          <a:p>
            <a:pPr lvl="4" rtl="0"/>
            <a:r>
              <a:rPr lang="it-IT"/>
              <a:t>Quinto livello</a:t>
            </a:r>
            <a:endParaRPr lang="en-US"/>
          </a:p>
        </p:txBody>
      </p:sp>
      <p:sp>
        <p:nvSpPr>
          <p:cNvPr id="8" name="Rettango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ttango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ttango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Segnaposto dat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2E24D16E-427E-461B-B316-99E3B1E340F1}" type="datetime1">
              <a:rPr lang="it-IT" smtClean="0"/>
              <a:pPr rtl="0"/>
              <a:t>21/03/2026</a:t>
            </a:fld>
            <a:endParaRPr lang="en-US"/>
          </a:p>
        </p:txBody>
      </p:sp>
      <p:sp>
        <p:nvSpPr>
          <p:cNvPr id="12" name="Segnaposto piè di pagina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a:p>
        </p:txBody>
      </p:sp>
      <p:sp>
        <p:nvSpPr>
          <p:cNvPr id="13" name="Segnaposto numero diapositiva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pPr rtl="0"/>
              <a:t>‹N›</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it"/>
              <a:t>Fare clic per modificare lo stile del titolo dello schema</a:t>
            </a:r>
            <a:endParaRPr lang="en-US"/>
          </a:p>
        </p:txBody>
      </p:sp>
      <p:sp>
        <p:nvSpPr>
          <p:cNvPr id="3" name="Segnaposto tes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it"/>
              <a:t>Fare clic per modificare gli stili del testo dello schema</a:t>
            </a:r>
          </a:p>
          <a:p>
            <a:pPr lvl="1" rtl="0"/>
            <a:r>
              <a:rPr lang="it"/>
              <a:t>Secondo livello</a:t>
            </a:r>
          </a:p>
          <a:p>
            <a:pPr lvl="2" rtl="0"/>
            <a:r>
              <a:rPr lang="it"/>
              <a:t>Terzo livello</a:t>
            </a:r>
          </a:p>
          <a:p>
            <a:pPr lvl="3" rtl="0"/>
            <a:r>
              <a:rPr lang="it"/>
              <a:t>Quarto livello</a:t>
            </a:r>
          </a:p>
          <a:p>
            <a:pPr lvl="4" rtl="0"/>
            <a:r>
              <a:rPr lang="it"/>
              <a:t>Quinto livello</a:t>
            </a:r>
            <a:endParaRPr lang="en-US"/>
          </a:p>
        </p:txBody>
      </p:sp>
      <p:sp>
        <p:nvSpPr>
          <p:cNvPr id="4" name="Segnaposto dat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BAA6CE81-F21E-4C48-B40D-AB03A3BE863B}" type="datetime1">
              <a:rPr lang="it-IT" smtClean="0"/>
              <a:pPr rtl="0"/>
              <a:t>21/03/2026</a:t>
            </a:fld>
            <a:endParaRPr lang="en-US"/>
          </a:p>
        </p:txBody>
      </p:sp>
      <p:sp>
        <p:nvSpPr>
          <p:cNvPr id="5" name="Segnaposto piè di pagina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a:p>
        </p:txBody>
      </p:sp>
      <p:sp>
        <p:nvSpPr>
          <p:cNvPr id="6" name="Segnaposto numero diapositiva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pPr rtl="0"/>
              <a:t>‹N›</a:t>
            </a:fld>
            <a:endParaRPr lang="en-US"/>
          </a:p>
        </p:txBody>
      </p:sp>
      <p:sp>
        <p:nvSpPr>
          <p:cNvPr id="9" name="Rettango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Rettango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1" name="Rettango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13" Type="http://schemas.openxmlformats.org/officeDocument/2006/relationships/diagramColors" Target="../diagrams/colors3.xml"/><Relationship Id="rId3" Type="http://schemas.openxmlformats.org/officeDocument/2006/relationships/image" Target="../media/image14.png"/><Relationship Id="rId7" Type="http://schemas.openxmlformats.org/officeDocument/2006/relationships/diagramQuickStyle" Target="../diagrams/quickStyle2.xml"/><Relationship Id="rId12" Type="http://schemas.openxmlformats.org/officeDocument/2006/relationships/diagramQuickStyle" Target="../diagrams/quickStyle3.xml"/><Relationship Id="rId2"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diagramLayout" Target="../diagrams/layout2.xml"/><Relationship Id="rId11" Type="http://schemas.openxmlformats.org/officeDocument/2006/relationships/diagramLayout" Target="../diagrams/layout3.xml"/><Relationship Id="rId5" Type="http://schemas.openxmlformats.org/officeDocument/2006/relationships/diagramData" Target="../diagrams/data2.xml"/><Relationship Id="rId10" Type="http://schemas.openxmlformats.org/officeDocument/2006/relationships/diagramData" Target="../diagrams/data3.xml"/><Relationship Id="rId4" Type="http://schemas.openxmlformats.org/officeDocument/2006/relationships/image" Target="../media/image15.png"/><Relationship Id="rId9" Type="http://schemas.microsoft.com/office/2007/relationships/diagramDrawing" Target="../diagrams/drawing2.xml"/><Relationship Id="rId14" Type="http://schemas.microsoft.com/office/2007/relationships/diagramDrawing" Target="../diagrams/drawing3.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diagramLayout" Target="../diagrams/layout4.xml"/><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11" Type="http://schemas.openxmlformats.org/officeDocument/2006/relationships/image" Target="../media/image20.png"/><Relationship Id="rId5" Type="http://schemas.openxmlformats.org/officeDocument/2006/relationships/diagramColors" Target="../diagrams/colors4.xml"/><Relationship Id="rId10" Type="http://schemas.openxmlformats.org/officeDocument/2006/relationships/image" Target="../media/image19.png"/><Relationship Id="rId4" Type="http://schemas.openxmlformats.org/officeDocument/2006/relationships/diagramQuickStyle" Target="../diagrams/quickStyle4.xm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ttangolo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olo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r>
              <a:rPr lang="it-IT" b="1"/>
              <a:t>Relazione Tecnica</a:t>
            </a:r>
            <a:br>
              <a:rPr lang="it-IT" b="1"/>
            </a:br>
            <a:r>
              <a:rPr lang="it-IT" b="1"/>
              <a:t>project work – DATA ANALYST 8</a:t>
            </a:r>
            <a:endParaRPr lang="it"/>
          </a:p>
        </p:txBody>
      </p:sp>
      <p:sp>
        <p:nvSpPr>
          <p:cNvPr id="3" name="Sottotitolo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pPr rtl="0"/>
            <a:r>
              <a:rPr lang="it"/>
              <a:t>GRUPPO A</a:t>
            </a:r>
          </a:p>
        </p:txBody>
      </p:sp>
      <p:sp>
        <p:nvSpPr>
          <p:cNvPr id="20" name="Rettangolo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2" name="Rettangolo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4" name="Rettangolo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6" name="Immagine 5" descr="Primo piano di un logo&#10;&#10;Descrizione generata automaticamente">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egnaposto contenuto 2">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3041385887"/>
              </p:ext>
            </p:extLst>
          </p:nvPr>
        </p:nvGraphicFramePr>
        <p:xfrm>
          <a:off x="580858" y="2031847"/>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olo 4">
            <a:extLst>
              <a:ext uri="{FF2B5EF4-FFF2-40B4-BE49-F238E27FC236}">
                <a16:creationId xmlns:a16="http://schemas.microsoft.com/office/drawing/2014/main" id="{0F0251E4-E25A-A95E-F1FE-26CFAF4F262A}"/>
              </a:ext>
            </a:extLst>
          </p:cNvPr>
          <p:cNvSpPr>
            <a:spLocks noGrp="1"/>
          </p:cNvSpPr>
          <p:nvPr>
            <p:ph type="title"/>
          </p:nvPr>
        </p:nvSpPr>
        <p:spPr/>
        <p:txBody>
          <a:bodyPr/>
          <a:lstStyle/>
          <a:p>
            <a:pPr algn="ctr"/>
            <a:r>
              <a:rPr lang="it-IT"/>
              <a:t>GRUPPO A</a:t>
            </a:r>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3E29DF-BA18-10F6-0010-C9722AAE6BA0}"/>
              </a:ext>
            </a:extLst>
          </p:cNvPr>
          <p:cNvSpPr>
            <a:spLocks noGrp="1"/>
          </p:cNvSpPr>
          <p:nvPr>
            <p:ph type="title"/>
          </p:nvPr>
        </p:nvSpPr>
        <p:spPr/>
        <p:txBody>
          <a:bodyPr/>
          <a:lstStyle/>
          <a:p>
            <a:r>
              <a:rPr lang="it-IT" b="1"/>
              <a:t>Fase 1 - Data </a:t>
            </a:r>
            <a:r>
              <a:rPr lang="it-IT" b="1" err="1"/>
              <a:t>Preparation</a:t>
            </a:r>
            <a:br>
              <a:rPr lang="it-IT"/>
            </a:br>
            <a:endParaRPr lang="it-IT"/>
          </a:p>
        </p:txBody>
      </p:sp>
      <p:sp>
        <p:nvSpPr>
          <p:cNvPr id="3" name="Segnaposto contenuto 2">
            <a:extLst>
              <a:ext uri="{FF2B5EF4-FFF2-40B4-BE49-F238E27FC236}">
                <a16:creationId xmlns:a16="http://schemas.microsoft.com/office/drawing/2014/main" id="{CD50BBE4-201D-8321-B710-E00C6E44FBF0}"/>
              </a:ext>
            </a:extLst>
          </p:cNvPr>
          <p:cNvSpPr>
            <a:spLocks noGrp="1"/>
          </p:cNvSpPr>
          <p:nvPr>
            <p:ph idx="1"/>
          </p:nvPr>
        </p:nvSpPr>
        <p:spPr>
          <a:xfrm>
            <a:off x="581193" y="1577725"/>
            <a:ext cx="11029615" cy="2243505"/>
          </a:xfrm>
        </p:spPr>
        <p:txBody>
          <a:bodyPr/>
          <a:lstStyle/>
          <a:p>
            <a:pPr marL="0" indent="0">
              <a:buNone/>
            </a:pPr>
            <a:r>
              <a:rPr lang="it-IT" sz="1800" b="1" dirty="0"/>
              <a:t>Pulizia della Tabella "Products"</a:t>
            </a:r>
            <a:endParaRPr lang="it-IT" sz="1800" dirty="0"/>
          </a:p>
          <a:p>
            <a:r>
              <a:rPr lang="it-IT" dirty="0"/>
              <a:t>Il file Products.csv ha una struttura particolare: i dati sembrano "ruotati" (i nomi delle colonne sono nella prima colonna)</a:t>
            </a:r>
          </a:p>
          <a:p>
            <a:r>
              <a:rPr lang="it-IT" dirty="0"/>
              <a:t>È stata applicata una trasformazione con </a:t>
            </a:r>
            <a:r>
              <a:rPr lang="it-IT" b="1" dirty="0"/>
              <a:t>‘</a:t>
            </a:r>
            <a:r>
              <a:rPr lang="it-IT" b="1" dirty="0" err="1"/>
              <a:t>Transpose</a:t>
            </a:r>
            <a:r>
              <a:rPr lang="it-IT" b="1" dirty="0"/>
              <a:t>‘ </a:t>
            </a:r>
            <a:r>
              <a:rPr lang="it-IT" dirty="0"/>
              <a:t>e poi </a:t>
            </a:r>
            <a:r>
              <a:rPr lang="it-IT" b="1" dirty="0"/>
              <a:t>‘Use first </a:t>
            </a:r>
            <a:r>
              <a:rPr lang="it-IT" b="1" dirty="0" err="1"/>
              <a:t>row</a:t>
            </a:r>
            <a:r>
              <a:rPr lang="it-IT" b="1" dirty="0"/>
              <a:t> </a:t>
            </a:r>
            <a:r>
              <a:rPr lang="it-IT" b="1" dirty="0" err="1"/>
              <a:t>as</a:t>
            </a:r>
            <a:r>
              <a:rPr lang="it-IT" b="1" dirty="0"/>
              <a:t> </a:t>
            </a:r>
            <a:r>
              <a:rPr lang="it-IT" b="1" dirty="0" err="1"/>
              <a:t>Headers</a:t>
            </a:r>
            <a:r>
              <a:rPr lang="it-IT" b="1" dirty="0"/>
              <a:t>’</a:t>
            </a:r>
            <a:endParaRPr lang="it-IT" dirty="0"/>
          </a:p>
          <a:p>
            <a:endParaRPr lang="it-IT" dirty="0"/>
          </a:p>
        </p:txBody>
      </p:sp>
      <p:pic>
        <p:nvPicPr>
          <p:cNvPr id="5" name="Immagine 4">
            <a:extLst>
              <a:ext uri="{FF2B5EF4-FFF2-40B4-BE49-F238E27FC236}">
                <a16:creationId xmlns:a16="http://schemas.microsoft.com/office/drawing/2014/main" id="{E3F8F583-34FF-2DD1-87A4-7D5D0B286539}"/>
              </a:ext>
            </a:extLst>
          </p:cNvPr>
          <p:cNvPicPr>
            <a:picLocks noChangeAspect="1"/>
          </p:cNvPicPr>
          <p:nvPr/>
        </p:nvPicPr>
        <p:blipFill>
          <a:blip r:embed="rId2"/>
          <a:stretch>
            <a:fillRect/>
          </a:stretch>
        </p:blipFill>
        <p:spPr>
          <a:xfrm>
            <a:off x="2085891" y="3993010"/>
            <a:ext cx="8020218" cy="1840969"/>
          </a:xfrm>
          <a:prstGeom prst="rect">
            <a:avLst/>
          </a:prstGeom>
        </p:spPr>
      </p:pic>
    </p:spTree>
    <p:extLst>
      <p:ext uri="{BB962C8B-B14F-4D97-AF65-F5344CB8AC3E}">
        <p14:creationId xmlns:p14="http://schemas.microsoft.com/office/powerpoint/2010/main" val="896520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C8F274B7-583D-6F52-45FC-4F96F59D97AC}"/>
              </a:ext>
            </a:extLst>
          </p:cNvPr>
          <p:cNvSpPr>
            <a:spLocks noGrp="1"/>
          </p:cNvSpPr>
          <p:nvPr>
            <p:ph idx="1"/>
          </p:nvPr>
        </p:nvSpPr>
        <p:spPr>
          <a:xfrm>
            <a:off x="487247" y="421306"/>
            <a:ext cx="11029615" cy="3232150"/>
          </a:xfrm>
        </p:spPr>
        <p:txBody>
          <a:bodyPr/>
          <a:lstStyle/>
          <a:p>
            <a:pPr marL="0" indent="0">
              <a:buNone/>
            </a:pPr>
            <a:r>
              <a:rPr lang="it-IT" sz="1800" b="1" dirty="0"/>
              <a:t>Pulizia della Tabella "</a:t>
            </a:r>
            <a:r>
              <a:rPr lang="it-IT" sz="1800" b="1" dirty="0" err="1"/>
              <a:t>Transactions</a:t>
            </a:r>
            <a:r>
              <a:rPr lang="it-IT" sz="1800" b="1" dirty="0"/>
              <a:t>"</a:t>
            </a:r>
          </a:p>
          <a:p>
            <a:r>
              <a:rPr lang="it-IT" dirty="0"/>
              <a:t>Nella colonna </a:t>
            </a:r>
            <a:r>
              <a:rPr lang="it-IT" b="1" dirty="0"/>
              <a:t>‘Price’ </a:t>
            </a:r>
            <a:r>
              <a:rPr lang="it-IT" dirty="0"/>
              <a:t>è stato sostituito il punto con la virgola usando </a:t>
            </a:r>
            <a:r>
              <a:rPr lang="it-IT" b="1" dirty="0"/>
              <a:t>‘</a:t>
            </a:r>
            <a:r>
              <a:rPr lang="it-IT" b="1" dirty="0" err="1"/>
              <a:t>Replace</a:t>
            </a:r>
            <a:r>
              <a:rPr lang="it-IT" b="1" dirty="0"/>
              <a:t> Value’ </a:t>
            </a:r>
            <a:r>
              <a:rPr lang="it-IT" dirty="0"/>
              <a:t>e modificato il tipo di dato in </a:t>
            </a:r>
            <a:r>
              <a:rPr lang="it-IT" b="1" dirty="0"/>
              <a:t>‘</a:t>
            </a:r>
            <a:r>
              <a:rPr lang="it-IT" b="1" dirty="0" err="1"/>
              <a:t>Fixed</a:t>
            </a:r>
            <a:r>
              <a:rPr lang="it-IT" b="1" dirty="0"/>
              <a:t> </a:t>
            </a:r>
            <a:r>
              <a:rPr lang="it-IT" b="1" dirty="0" err="1"/>
              <a:t>decimal</a:t>
            </a:r>
            <a:r>
              <a:rPr lang="it-IT" b="1" dirty="0"/>
              <a:t> </a:t>
            </a:r>
            <a:r>
              <a:rPr lang="it-IT" b="1" dirty="0" err="1"/>
              <a:t>number</a:t>
            </a:r>
            <a:r>
              <a:rPr lang="it-IT" b="1" dirty="0"/>
              <a:t>’</a:t>
            </a:r>
          </a:p>
          <a:p>
            <a:r>
              <a:rPr lang="it-IT" sz="1800" dirty="0"/>
              <a:t>Per garantire la corretta interpretazione delle date, l'importazione è stata impostata su standard English (United States)</a:t>
            </a:r>
          </a:p>
          <a:p>
            <a:r>
              <a:rPr lang="it-IT" sz="1800" dirty="0"/>
              <a:t>La colonna </a:t>
            </a:r>
            <a:r>
              <a:rPr lang="it-IT" sz="1800" b="1" dirty="0"/>
              <a:t>‘</a:t>
            </a:r>
            <a:r>
              <a:rPr lang="it-IT" sz="1800" b="1" dirty="0" err="1"/>
              <a:t>TransactionDate</a:t>
            </a:r>
            <a:r>
              <a:rPr lang="it-IT" sz="1800" b="1" dirty="0"/>
              <a:t>’ </a:t>
            </a:r>
            <a:r>
              <a:rPr lang="it-IT" sz="1800" dirty="0"/>
              <a:t>contiene sia data che ora (es. 2024-08-25 12:38:23), quindi si è provveduto alla trasformazione con </a:t>
            </a:r>
            <a:r>
              <a:rPr lang="it-IT" sz="1800" b="1" dirty="0"/>
              <a:t>Split </a:t>
            </a:r>
            <a:r>
              <a:rPr lang="it-IT" sz="1800" b="1" dirty="0" err="1"/>
              <a:t>Column</a:t>
            </a:r>
            <a:r>
              <a:rPr lang="it-IT" sz="1800" b="1" dirty="0"/>
              <a:t> by </a:t>
            </a:r>
            <a:r>
              <a:rPr lang="it-IT" sz="1800" b="1" dirty="0" err="1"/>
              <a:t>Delimiter</a:t>
            </a:r>
            <a:r>
              <a:rPr lang="it-IT" sz="1800" b="1" dirty="0"/>
              <a:t> ‘Space’, </a:t>
            </a:r>
            <a:r>
              <a:rPr lang="it-IT" sz="1800" dirty="0"/>
              <a:t>alla rinomina della colonna in </a:t>
            </a:r>
            <a:r>
              <a:rPr lang="it-IT" sz="1800" b="1" dirty="0"/>
              <a:t>‘Date’ </a:t>
            </a:r>
            <a:r>
              <a:rPr lang="it-IT" sz="1800" dirty="0"/>
              <a:t>e rimozione della colonna con l’ora</a:t>
            </a:r>
          </a:p>
        </p:txBody>
      </p:sp>
      <p:pic>
        <p:nvPicPr>
          <p:cNvPr id="5" name="Immagine 4">
            <a:extLst>
              <a:ext uri="{FF2B5EF4-FFF2-40B4-BE49-F238E27FC236}">
                <a16:creationId xmlns:a16="http://schemas.microsoft.com/office/drawing/2014/main" id="{0B038743-3092-6512-D14E-7BA43D6D5A35}"/>
              </a:ext>
            </a:extLst>
          </p:cNvPr>
          <p:cNvPicPr>
            <a:picLocks noChangeAspect="1"/>
          </p:cNvPicPr>
          <p:nvPr/>
        </p:nvPicPr>
        <p:blipFill>
          <a:blip r:embed="rId2"/>
          <a:stretch>
            <a:fillRect/>
          </a:stretch>
        </p:blipFill>
        <p:spPr>
          <a:xfrm>
            <a:off x="1755560" y="3558563"/>
            <a:ext cx="2588446" cy="2682571"/>
          </a:xfrm>
          <a:prstGeom prst="rect">
            <a:avLst/>
          </a:prstGeom>
        </p:spPr>
      </p:pic>
      <p:pic>
        <p:nvPicPr>
          <p:cNvPr id="6" name="Immagine 5">
            <a:extLst>
              <a:ext uri="{FF2B5EF4-FFF2-40B4-BE49-F238E27FC236}">
                <a16:creationId xmlns:a16="http://schemas.microsoft.com/office/drawing/2014/main" id="{BC7327DF-F93B-7354-BC0F-BF89A838B4EC}"/>
              </a:ext>
            </a:extLst>
          </p:cNvPr>
          <p:cNvPicPr>
            <a:picLocks noChangeAspect="1"/>
          </p:cNvPicPr>
          <p:nvPr/>
        </p:nvPicPr>
        <p:blipFill>
          <a:blip r:embed="rId3"/>
          <a:srcRect r="50065"/>
          <a:stretch>
            <a:fillRect/>
          </a:stretch>
        </p:blipFill>
        <p:spPr>
          <a:xfrm>
            <a:off x="7670544" y="3561643"/>
            <a:ext cx="2177566" cy="2669101"/>
          </a:xfrm>
          <a:prstGeom prst="rect">
            <a:avLst/>
          </a:prstGeom>
        </p:spPr>
      </p:pic>
      <p:sp>
        <p:nvSpPr>
          <p:cNvPr id="9" name="Freccia a destra 8">
            <a:extLst>
              <a:ext uri="{FF2B5EF4-FFF2-40B4-BE49-F238E27FC236}">
                <a16:creationId xmlns:a16="http://schemas.microsoft.com/office/drawing/2014/main" id="{F36CF7B0-F79B-11F9-F16D-82209DF9D97A}"/>
              </a:ext>
            </a:extLst>
          </p:cNvPr>
          <p:cNvSpPr/>
          <p:nvPr/>
        </p:nvSpPr>
        <p:spPr>
          <a:xfrm>
            <a:off x="5102404" y="4635031"/>
            <a:ext cx="1799303" cy="2654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255326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data 3">
            <a:extLst>
              <a:ext uri="{FF2B5EF4-FFF2-40B4-BE49-F238E27FC236}">
                <a16:creationId xmlns:a16="http://schemas.microsoft.com/office/drawing/2014/main" id="{51DA3E4E-1416-63EB-8FD9-35BA5DD850EA}"/>
              </a:ext>
            </a:extLst>
          </p:cNvPr>
          <p:cNvSpPr>
            <a:spLocks noGrp="1"/>
          </p:cNvSpPr>
          <p:nvPr>
            <p:ph type="dt" sz="half" idx="10"/>
          </p:nvPr>
        </p:nvSpPr>
        <p:spPr/>
        <p:txBody>
          <a:bodyPr/>
          <a:lstStyle/>
          <a:p>
            <a:pPr rtl="0"/>
            <a:fld id="{FC16C3F1-EAB4-40C7-A804-E4164A432ACC}" type="datetime1">
              <a:rPr lang="it-IT" smtClean="0"/>
              <a:pPr rtl="0"/>
              <a:t>21/03/2026</a:t>
            </a:fld>
            <a:endParaRPr lang="en-US"/>
          </a:p>
        </p:txBody>
      </p:sp>
      <p:sp>
        <p:nvSpPr>
          <p:cNvPr id="2" name="Segnaposto contenuto 2">
            <a:extLst>
              <a:ext uri="{FF2B5EF4-FFF2-40B4-BE49-F238E27FC236}">
                <a16:creationId xmlns:a16="http://schemas.microsoft.com/office/drawing/2014/main" id="{9E1C6679-F471-A775-B3C7-6A4B1A32EC0F}"/>
              </a:ext>
            </a:extLst>
          </p:cNvPr>
          <p:cNvSpPr>
            <a:spLocks noGrp="1"/>
          </p:cNvSpPr>
          <p:nvPr/>
        </p:nvSpPr>
        <p:spPr>
          <a:xfrm>
            <a:off x="581192" y="1057755"/>
            <a:ext cx="11029615"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it-IT" sz="1800" b="1" dirty="0"/>
              <a:t>Pulizia della Tabella "Customers"</a:t>
            </a:r>
          </a:p>
          <a:p>
            <a:pPr eaLnBrk="0" fontAlgn="base" hangingPunct="0">
              <a:lnSpc>
                <a:spcPct val="100000"/>
              </a:lnSpc>
              <a:spcBef>
                <a:spcPct val="0"/>
              </a:spcBef>
              <a:spcAft>
                <a:spcPct val="0"/>
              </a:spcAft>
            </a:pPr>
            <a:r>
              <a:rPr lang="it-IT" altLang="it-IT" sz="1800" dirty="0"/>
              <a:t>Pulizia delle colonne da eventuali spazi bianchi inutili con funzione </a:t>
            </a:r>
            <a:r>
              <a:rPr lang="it-IT" altLang="it-IT" sz="1800" b="1" dirty="0" err="1"/>
              <a:t>Transform</a:t>
            </a:r>
            <a:r>
              <a:rPr lang="it-IT" altLang="it-IT" sz="1800" b="1" dirty="0"/>
              <a:t> -&gt; Trim</a:t>
            </a:r>
          </a:p>
          <a:p>
            <a:pPr marL="0" indent="0" eaLnBrk="0" fontAlgn="base" hangingPunct="0">
              <a:lnSpc>
                <a:spcPct val="100000"/>
              </a:lnSpc>
              <a:spcBef>
                <a:spcPct val="0"/>
              </a:spcBef>
              <a:spcAft>
                <a:spcPct val="0"/>
              </a:spcAft>
              <a:buNone/>
            </a:pPr>
            <a:r>
              <a:rPr lang="it-IT" sz="1800" dirty="0"/>
              <a:t>	Operazione eseguita in ogni tabella importata su tutte le colonne che contengono ID </a:t>
            </a:r>
            <a:br>
              <a:rPr lang="it-IT" sz="1800" dirty="0"/>
            </a:br>
            <a:r>
              <a:rPr lang="it-IT" sz="1800" dirty="0"/>
              <a:t>	(come </a:t>
            </a:r>
            <a:r>
              <a:rPr lang="it-IT" dirty="0" err="1"/>
              <a:t>ProductID</a:t>
            </a:r>
            <a:r>
              <a:rPr lang="it-IT" sz="1800" dirty="0"/>
              <a:t>, </a:t>
            </a:r>
            <a:r>
              <a:rPr lang="it-IT" dirty="0" err="1"/>
              <a:t>CustomerID</a:t>
            </a:r>
            <a:r>
              <a:rPr lang="it-IT" sz="1800" dirty="0"/>
              <a:t>) e nomi. </a:t>
            </a:r>
            <a:endParaRPr lang="it-IT" altLang="it-IT" sz="1800" b="1" dirty="0"/>
          </a:p>
          <a:p>
            <a:pPr eaLnBrk="0" fontAlgn="base" hangingPunct="0">
              <a:lnSpc>
                <a:spcPct val="100000"/>
              </a:lnSpc>
              <a:spcBef>
                <a:spcPct val="0"/>
              </a:spcBef>
              <a:spcAft>
                <a:spcPct val="0"/>
              </a:spcAft>
            </a:pPr>
            <a:endParaRPr lang="it-IT" altLang="it-IT" sz="1800" dirty="0"/>
          </a:p>
          <a:p>
            <a:pPr eaLnBrk="0" fontAlgn="base" hangingPunct="0">
              <a:lnSpc>
                <a:spcPct val="100000"/>
              </a:lnSpc>
              <a:spcBef>
                <a:spcPct val="0"/>
              </a:spcBef>
              <a:spcAft>
                <a:spcPct val="0"/>
              </a:spcAft>
            </a:pPr>
            <a:r>
              <a:rPr lang="it-IT" altLang="it-IT" sz="1800" dirty="0"/>
              <a:t>Controllo che nella colonna </a:t>
            </a:r>
            <a:r>
              <a:rPr lang="it-IT" sz="1800" b="1" dirty="0"/>
              <a:t>"</a:t>
            </a:r>
            <a:r>
              <a:rPr lang="it-IT" altLang="it-IT" sz="1800" b="1" dirty="0" err="1"/>
              <a:t>Region</a:t>
            </a:r>
            <a:r>
              <a:rPr lang="it-IT" sz="1800" b="1" dirty="0"/>
              <a:t>"</a:t>
            </a:r>
            <a:r>
              <a:rPr lang="it-IT" altLang="it-IT" sz="1800" dirty="0"/>
              <a:t> non ci siano parole incoerenti/strane</a:t>
            </a:r>
            <a:endParaRPr lang="it-IT" altLang="it-IT" sz="1000" dirty="0">
              <a:solidFill>
                <a:schemeClr val="tx1"/>
              </a:solidFill>
            </a:endParaRPr>
          </a:p>
          <a:p>
            <a:pPr marL="0" indent="0">
              <a:buNone/>
            </a:pPr>
            <a:endParaRPr lang="it-IT" dirty="0"/>
          </a:p>
        </p:txBody>
      </p:sp>
    </p:spTree>
    <p:extLst>
      <p:ext uri="{BB962C8B-B14F-4D97-AF65-F5344CB8AC3E}">
        <p14:creationId xmlns:p14="http://schemas.microsoft.com/office/powerpoint/2010/main" val="66786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4812-FEEE-0DCC-52EB-B6A0EAA5536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2931A00-40ED-8DFF-3156-34BDF23BF681}"/>
              </a:ext>
            </a:extLst>
          </p:cNvPr>
          <p:cNvSpPr>
            <a:spLocks noGrp="1"/>
          </p:cNvSpPr>
          <p:nvPr>
            <p:ph type="title"/>
          </p:nvPr>
        </p:nvSpPr>
        <p:spPr/>
        <p:txBody>
          <a:bodyPr/>
          <a:lstStyle/>
          <a:p>
            <a:r>
              <a:rPr lang="it-IT" b="1"/>
              <a:t>Fase 2 - Data </a:t>
            </a:r>
            <a:r>
              <a:rPr lang="it-IT" b="1" err="1"/>
              <a:t>modeling</a:t>
            </a:r>
            <a:br>
              <a:rPr lang="it-IT"/>
            </a:br>
            <a:endParaRPr lang="it-IT"/>
          </a:p>
        </p:txBody>
      </p:sp>
      <p:sp>
        <p:nvSpPr>
          <p:cNvPr id="3" name="Segnaposto contenuto 2">
            <a:extLst>
              <a:ext uri="{FF2B5EF4-FFF2-40B4-BE49-F238E27FC236}">
                <a16:creationId xmlns:a16="http://schemas.microsoft.com/office/drawing/2014/main" id="{3B6EF54D-2E34-B5B9-552E-A548B8CB281A}"/>
              </a:ext>
            </a:extLst>
          </p:cNvPr>
          <p:cNvSpPr>
            <a:spLocks noGrp="1"/>
          </p:cNvSpPr>
          <p:nvPr>
            <p:ph idx="1"/>
          </p:nvPr>
        </p:nvSpPr>
        <p:spPr>
          <a:xfrm>
            <a:off x="581193" y="1895328"/>
            <a:ext cx="11029615" cy="4617157"/>
          </a:xfrm>
        </p:spPr>
        <p:txBody>
          <a:bodyPr>
            <a:normAutofit fontScale="77500" lnSpcReduction="20000"/>
          </a:bodyPr>
          <a:lstStyle/>
          <a:p>
            <a:pPr marL="0" indent="0">
              <a:buNone/>
            </a:pPr>
            <a:r>
              <a:rPr lang="it-IT" sz="2300" b="1"/>
              <a:t>DAX for DATE TABLE</a:t>
            </a:r>
            <a:endParaRPr lang="it-IT" sz="2300"/>
          </a:p>
          <a:p>
            <a:pPr marL="305435" indent="-305435"/>
            <a:r>
              <a:rPr lang="it-IT" sz="2100" dirty="0" err="1"/>
              <a:t>E'</a:t>
            </a:r>
            <a:r>
              <a:rPr lang="it-IT" sz="2100" dirty="0"/>
              <a:t> stata usata la DAX </a:t>
            </a:r>
            <a:r>
              <a:rPr lang="it-IT" sz="2100" dirty="0" err="1"/>
              <a:t>function</a:t>
            </a:r>
            <a:r>
              <a:rPr lang="it-IT" sz="2100" dirty="0"/>
              <a:t> </a:t>
            </a:r>
            <a:r>
              <a:rPr lang="it-IT" sz="2100" dirty="0" err="1"/>
              <a:t>CALENDAR(</a:t>
            </a:r>
            <a:r>
              <a:rPr lang="it-IT" sz="2100" dirty="0"/>
              <a:t>) per creare la nostra tabella calcolata di Date con colonne derivate per anno, trimestre, mese e giorno</a:t>
            </a:r>
          </a:p>
          <a:p>
            <a:pPr marL="305435" indent="-305435"/>
            <a:endParaRPr lang="it-IT"/>
          </a:p>
          <a:p>
            <a:pPr marL="305435" indent="-305435"/>
            <a:endParaRPr lang="it-IT"/>
          </a:p>
          <a:p>
            <a:pPr marL="305435" indent="-305435"/>
            <a:endParaRPr lang="it-IT"/>
          </a:p>
          <a:p>
            <a:pPr marL="305435" indent="-305435"/>
            <a:endParaRPr lang="it-IT"/>
          </a:p>
          <a:p>
            <a:pPr marL="305435" indent="-305435"/>
            <a:endParaRPr lang="it-IT"/>
          </a:p>
          <a:p>
            <a:pPr marL="305435" indent="-305435"/>
            <a:endParaRPr lang="it-IT"/>
          </a:p>
          <a:p>
            <a:pPr marL="305435" indent="-305435"/>
            <a:r>
              <a:rPr lang="it-IT" sz="2100" dirty="0" err="1"/>
              <a:t>E'</a:t>
            </a:r>
            <a:r>
              <a:rPr lang="it-IT" sz="2100" dirty="0"/>
              <a:t> stata aggiunta la colonna MONTHKEY per personalizzare l'ordinamento della colonna mese </a:t>
            </a:r>
          </a:p>
          <a:p>
            <a:pPr marL="305435" indent="-305435"/>
            <a:endParaRPr lang="it-IT"/>
          </a:p>
          <a:p>
            <a:pPr marL="0" indent="0">
              <a:buNone/>
            </a:pPr>
            <a:r>
              <a:rPr lang="it-IT"/>
              <a:t>  </a:t>
            </a:r>
            <a:endParaRPr lang="it-IT" sz="1600"/>
          </a:p>
          <a:p>
            <a:pPr marL="0" indent="0">
              <a:buNone/>
            </a:pPr>
            <a:endParaRPr lang="it-IT"/>
          </a:p>
          <a:p>
            <a:pPr marL="305435" indent="-305435"/>
            <a:r>
              <a:rPr lang="it-IT" sz="1800" dirty="0" err="1"/>
              <a:t>E'</a:t>
            </a:r>
            <a:r>
              <a:rPr lang="it-IT" sz="1800" dirty="0"/>
              <a:t> </a:t>
            </a:r>
            <a:r>
              <a:rPr lang="it-IT" sz="2100" dirty="0"/>
              <a:t>stata contrassegnata la tabella come "tabella delle date" (</a:t>
            </a:r>
            <a:r>
              <a:rPr lang="it-IT" sz="2100" b="1" dirty="0"/>
              <a:t>Mark </a:t>
            </a:r>
            <a:r>
              <a:rPr lang="it-IT" sz="2100" b="1" dirty="0" err="1"/>
              <a:t>as</a:t>
            </a:r>
            <a:r>
              <a:rPr lang="it-IT" sz="2100" b="1" dirty="0"/>
              <a:t> a date </a:t>
            </a:r>
            <a:r>
              <a:rPr lang="it-IT" sz="2100" b="1" dirty="0" err="1"/>
              <a:t>table</a:t>
            </a:r>
            <a:r>
              <a:rPr lang="it-IT" sz="2100" dirty="0"/>
              <a:t>) per convalidare i valori e consentire la corretta creazione di visual correlati alle date</a:t>
            </a:r>
          </a:p>
          <a:p>
            <a:pPr marL="305435" indent="-305435"/>
            <a:endParaRPr lang="it-IT" b="1"/>
          </a:p>
          <a:p>
            <a:endParaRPr lang="it-IT"/>
          </a:p>
        </p:txBody>
      </p:sp>
      <p:pic>
        <p:nvPicPr>
          <p:cNvPr id="4" name="Immagine 3">
            <a:extLst>
              <a:ext uri="{FF2B5EF4-FFF2-40B4-BE49-F238E27FC236}">
                <a16:creationId xmlns:a16="http://schemas.microsoft.com/office/drawing/2014/main" id="{0DFA2884-367F-F525-9B41-7876801E611B}"/>
              </a:ext>
            </a:extLst>
          </p:cNvPr>
          <p:cNvPicPr>
            <a:picLocks noChangeAspect="1"/>
          </p:cNvPicPr>
          <p:nvPr/>
        </p:nvPicPr>
        <p:blipFill>
          <a:blip r:embed="rId2"/>
          <a:stretch>
            <a:fillRect/>
          </a:stretch>
        </p:blipFill>
        <p:spPr>
          <a:xfrm>
            <a:off x="1014411" y="2642574"/>
            <a:ext cx="4067175" cy="428625"/>
          </a:xfrm>
          <a:prstGeom prst="rect">
            <a:avLst/>
          </a:prstGeom>
        </p:spPr>
      </p:pic>
      <p:pic>
        <p:nvPicPr>
          <p:cNvPr id="7" name="Immagine 6">
            <a:extLst>
              <a:ext uri="{FF2B5EF4-FFF2-40B4-BE49-F238E27FC236}">
                <a16:creationId xmlns:a16="http://schemas.microsoft.com/office/drawing/2014/main" id="{4D8F9E0F-9F87-FE81-6F02-C72B39D9C255}"/>
              </a:ext>
            </a:extLst>
          </p:cNvPr>
          <p:cNvPicPr>
            <a:picLocks noChangeAspect="1"/>
          </p:cNvPicPr>
          <p:nvPr/>
        </p:nvPicPr>
        <p:blipFill>
          <a:blip r:embed="rId3"/>
          <a:stretch>
            <a:fillRect/>
          </a:stretch>
        </p:blipFill>
        <p:spPr>
          <a:xfrm>
            <a:off x="1132915" y="3065089"/>
            <a:ext cx="2171700" cy="257175"/>
          </a:xfrm>
          <a:prstGeom prst="rect">
            <a:avLst/>
          </a:prstGeom>
        </p:spPr>
      </p:pic>
      <p:pic>
        <p:nvPicPr>
          <p:cNvPr id="8" name="Immagine 7">
            <a:extLst>
              <a:ext uri="{FF2B5EF4-FFF2-40B4-BE49-F238E27FC236}">
                <a16:creationId xmlns:a16="http://schemas.microsoft.com/office/drawing/2014/main" id="{AF35C34B-96A5-E15D-8F05-6092672721F2}"/>
              </a:ext>
            </a:extLst>
          </p:cNvPr>
          <p:cNvPicPr>
            <a:picLocks noChangeAspect="1"/>
          </p:cNvPicPr>
          <p:nvPr/>
        </p:nvPicPr>
        <p:blipFill>
          <a:blip r:embed="rId4"/>
          <a:stretch>
            <a:fillRect/>
          </a:stretch>
        </p:blipFill>
        <p:spPr>
          <a:xfrm>
            <a:off x="1118067" y="3311619"/>
            <a:ext cx="9686925" cy="257175"/>
          </a:xfrm>
          <a:prstGeom prst="rect">
            <a:avLst/>
          </a:prstGeom>
        </p:spPr>
      </p:pic>
      <p:pic>
        <p:nvPicPr>
          <p:cNvPr id="9" name="Immagine 8">
            <a:extLst>
              <a:ext uri="{FF2B5EF4-FFF2-40B4-BE49-F238E27FC236}">
                <a16:creationId xmlns:a16="http://schemas.microsoft.com/office/drawing/2014/main" id="{D45F2D65-2AC6-5CEE-04A0-1FB35CC99B61}"/>
              </a:ext>
            </a:extLst>
          </p:cNvPr>
          <p:cNvPicPr>
            <a:picLocks noChangeAspect="1"/>
          </p:cNvPicPr>
          <p:nvPr/>
        </p:nvPicPr>
        <p:blipFill>
          <a:blip r:embed="rId5"/>
          <a:stretch>
            <a:fillRect/>
          </a:stretch>
        </p:blipFill>
        <p:spPr>
          <a:xfrm>
            <a:off x="1124510" y="3558148"/>
            <a:ext cx="3981450" cy="257175"/>
          </a:xfrm>
          <a:prstGeom prst="rect">
            <a:avLst/>
          </a:prstGeom>
        </p:spPr>
      </p:pic>
      <p:pic>
        <p:nvPicPr>
          <p:cNvPr id="10" name="Immagine 9">
            <a:extLst>
              <a:ext uri="{FF2B5EF4-FFF2-40B4-BE49-F238E27FC236}">
                <a16:creationId xmlns:a16="http://schemas.microsoft.com/office/drawing/2014/main" id="{05E40867-ED16-68E2-DB05-D2D33DC59A5B}"/>
              </a:ext>
            </a:extLst>
          </p:cNvPr>
          <p:cNvPicPr>
            <a:picLocks noChangeAspect="1"/>
          </p:cNvPicPr>
          <p:nvPr/>
        </p:nvPicPr>
        <p:blipFill>
          <a:blip r:embed="rId6"/>
          <a:stretch>
            <a:fillRect/>
          </a:stretch>
        </p:blipFill>
        <p:spPr>
          <a:xfrm>
            <a:off x="1127592" y="3804677"/>
            <a:ext cx="3571875" cy="257175"/>
          </a:xfrm>
          <a:prstGeom prst="rect">
            <a:avLst/>
          </a:prstGeom>
        </p:spPr>
      </p:pic>
      <p:pic>
        <p:nvPicPr>
          <p:cNvPr id="11" name="Immagine 10">
            <a:extLst>
              <a:ext uri="{FF2B5EF4-FFF2-40B4-BE49-F238E27FC236}">
                <a16:creationId xmlns:a16="http://schemas.microsoft.com/office/drawing/2014/main" id="{4FB1256B-5492-AD9E-BA89-C4C877A61FD4}"/>
              </a:ext>
            </a:extLst>
          </p:cNvPr>
          <p:cNvPicPr>
            <a:picLocks noChangeAspect="1"/>
          </p:cNvPicPr>
          <p:nvPr/>
        </p:nvPicPr>
        <p:blipFill>
          <a:blip r:embed="rId7"/>
          <a:stretch>
            <a:fillRect/>
          </a:stretch>
        </p:blipFill>
        <p:spPr>
          <a:xfrm>
            <a:off x="1136277" y="4694704"/>
            <a:ext cx="4114800" cy="247650"/>
          </a:xfrm>
          <a:prstGeom prst="rect">
            <a:avLst/>
          </a:prstGeom>
        </p:spPr>
      </p:pic>
      <p:sp>
        <p:nvSpPr>
          <p:cNvPr id="13" name="CasellaDiTesto 12">
            <a:extLst>
              <a:ext uri="{FF2B5EF4-FFF2-40B4-BE49-F238E27FC236}">
                <a16:creationId xmlns:a16="http://schemas.microsoft.com/office/drawing/2014/main" id="{9085AEDC-22F4-392F-8871-588E1B7B7C7B}"/>
              </a:ext>
            </a:extLst>
          </p:cNvPr>
          <p:cNvSpPr txBox="1"/>
          <p:nvPr/>
        </p:nvSpPr>
        <p:spPr>
          <a:xfrm>
            <a:off x="1128471" y="5100956"/>
            <a:ext cx="905816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200" err="1">
                <a:solidFill>
                  <a:srgbClr val="404040"/>
                </a:solidFill>
              </a:rPr>
              <a:t>Month</a:t>
            </a:r>
            <a:r>
              <a:rPr lang="it-IT" sz="1200">
                <a:solidFill>
                  <a:srgbClr val="404040"/>
                </a:solidFill>
              </a:rPr>
              <a:t>    </a:t>
            </a:r>
            <a:r>
              <a:rPr lang="it-IT" sz="1200" b="1">
                <a:solidFill>
                  <a:srgbClr val="404040"/>
                </a:solidFill>
              </a:rPr>
              <a:t>Sort by </a:t>
            </a:r>
            <a:r>
              <a:rPr lang="it-IT" sz="1200" b="1" err="1">
                <a:solidFill>
                  <a:srgbClr val="404040"/>
                </a:solidFill>
              </a:rPr>
              <a:t>Column</a:t>
            </a:r>
            <a:r>
              <a:rPr lang="it-IT" sz="1200">
                <a:solidFill>
                  <a:srgbClr val="404040"/>
                </a:solidFill>
              </a:rPr>
              <a:t>    </a:t>
            </a:r>
            <a:r>
              <a:rPr lang="it-IT" sz="1200" err="1">
                <a:solidFill>
                  <a:srgbClr val="404040"/>
                </a:solidFill>
              </a:rPr>
              <a:t>Monthkey</a:t>
            </a:r>
            <a:r>
              <a:rPr lang="it-IT" sz="1200">
                <a:solidFill>
                  <a:srgbClr val="404040"/>
                </a:solidFill>
              </a:rPr>
              <a:t> per ordinare i mesi cronologicamente</a:t>
            </a:r>
            <a:endParaRPr lang="it-IT"/>
          </a:p>
        </p:txBody>
      </p:sp>
      <p:sp>
        <p:nvSpPr>
          <p:cNvPr id="22" name="Freccia a destra 21">
            <a:extLst>
              <a:ext uri="{FF2B5EF4-FFF2-40B4-BE49-F238E27FC236}">
                <a16:creationId xmlns:a16="http://schemas.microsoft.com/office/drawing/2014/main" id="{90E003E5-B58A-0522-A2A3-A3009AE53251}"/>
              </a:ext>
            </a:extLst>
          </p:cNvPr>
          <p:cNvSpPr/>
          <p:nvPr/>
        </p:nvSpPr>
        <p:spPr>
          <a:xfrm>
            <a:off x="1700113" y="5140677"/>
            <a:ext cx="420980" cy="1982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Freccia a destra 22">
            <a:extLst>
              <a:ext uri="{FF2B5EF4-FFF2-40B4-BE49-F238E27FC236}">
                <a16:creationId xmlns:a16="http://schemas.microsoft.com/office/drawing/2014/main" id="{0A6869BE-E833-75AA-5FD6-BD877F572B22}"/>
              </a:ext>
            </a:extLst>
          </p:cNvPr>
          <p:cNvSpPr/>
          <p:nvPr/>
        </p:nvSpPr>
        <p:spPr>
          <a:xfrm>
            <a:off x="3302554" y="5140677"/>
            <a:ext cx="420980" cy="1982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596612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DD86-625F-BCCC-87F9-FDAF55B66F98}"/>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2F896FF-0FDB-743A-DFE8-3C31A183B8D3}"/>
              </a:ext>
            </a:extLst>
          </p:cNvPr>
          <p:cNvSpPr>
            <a:spLocks noGrp="1"/>
          </p:cNvSpPr>
          <p:nvPr>
            <p:ph idx="1"/>
          </p:nvPr>
        </p:nvSpPr>
        <p:spPr>
          <a:xfrm>
            <a:off x="609076" y="798828"/>
            <a:ext cx="4667548" cy="2361012"/>
          </a:xfrm>
          <a:solidFill>
            <a:schemeClr val="bg1"/>
          </a:solidFill>
          <a:ln w="28575">
            <a:solidFill>
              <a:schemeClr val="bg2">
                <a:lumMod val="75000"/>
              </a:schemeClr>
            </a:solidFill>
          </a:ln>
        </p:spPr>
        <p:txBody>
          <a:bodyPr>
            <a:normAutofit/>
          </a:bodyPr>
          <a:lstStyle/>
          <a:p>
            <a:pPr marL="0" indent="0">
              <a:buNone/>
            </a:pPr>
            <a:r>
              <a:rPr lang="it-IT" sz="1800" b="1"/>
              <a:t>STAR SCHEMA for SEMANTIC MODELS</a:t>
            </a:r>
          </a:p>
          <a:p>
            <a:pPr marL="305435" indent="-305435" algn="just"/>
            <a:r>
              <a:rPr lang="it-IT" sz="1600" dirty="0"/>
              <a:t> Nel diagramma, al centro è stata posizionata la nostra tabella dei fatti (</a:t>
            </a:r>
            <a:r>
              <a:rPr lang="it-IT" sz="1600" b="1" err="1"/>
              <a:t>Transactions</a:t>
            </a:r>
            <a:r>
              <a:rPr lang="it-IT" sz="1600" dirty="0"/>
              <a:t>), attorno ad essa le tabelle di dimensione (</a:t>
            </a:r>
            <a:r>
              <a:rPr lang="it-IT" sz="1600" b="1" dirty="0"/>
              <a:t>Customers</a:t>
            </a:r>
            <a:r>
              <a:rPr lang="it-IT" sz="1600" dirty="0"/>
              <a:t>, </a:t>
            </a:r>
            <a:r>
              <a:rPr lang="it-IT" sz="1600" b="1" dirty="0"/>
              <a:t>Products </a:t>
            </a:r>
            <a:r>
              <a:rPr lang="it-IT" sz="1600" dirty="0"/>
              <a:t>e </a:t>
            </a:r>
            <a:r>
              <a:rPr lang="it-IT" sz="1600" b="1"/>
              <a:t>Date</a:t>
            </a:r>
            <a:r>
              <a:rPr lang="it-IT" sz="1600"/>
              <a:t>)</a:t>
            </a:r>
          </a:p>
          <a:p>
            <a:pPr marL="305435" indent="-305435" algn="just"/>
            <a:r>
              <a:rPr lang="it-IT" sz="1600"/>
              <a:t>Sono state create le relazioni tra le tabelle, individuando gli ID comuni</a:t>
            </a:r>
          </a:p>
        </p:txBody>
      </p:sp>
      <p:pic>
        <p:nvPicPr>
          <p:cNvPr id="2" name="Immagine 1" descr="Immagine che contiene testo, schermata, diagramma, Rettangolo&#10;&#10;Il contenuto generato dall&amp;#39;IA potrebbe non essere corretto.">
            <a:extLst>
              <a:ext uri="{FF2B5EF4-FFF2-40B4-BE49-F238E27FC236}">
                <a16:creationId xmlns:a16="http://schemas.microsoft.com/office/drawing/2014/main" id="{91874C19-456E-38EA-6A32-802ACFC14DEC}"/>
              </a:ext>
            </a:extLst>
          </p:cNvPr>
          <p:cNvPicPr>
            <a:picLocks noChangeAspect="1"/>
          </p:cNvPicPr>
          <p:nvPr/>
        </p:nvPicPr>
        <p:blipFill>
          <a:blip r:embed="rId2"/>
          <a:stretch>
            <a:fillRect/>
          </a:stretch>
        </p:blipFill>
        <p:spPr>
          <a:xfrm>
            <a:off x="5404596" y="788333"/>
            <a:ext cx="6290982" cy="5617509"/>
          </a:xfrm>
          <a:prstGeom prst="rect">
            <a:avLst/>
          </a:prstGeom>
        </p:spPr>
      </p:pic>
      <p:pic>
        <p:nvPicPr>
          <p:cNvPr id="4" name="Immagine 3" descr="Immagine che contiene testo, schermata, Carattere, numero&#10;&#10;Il contenuto generato dall&amp;#39;IA potrebbe non essere corretto.">
            <a:extLst>
              <a:ext uri="{FF2B5EF4-FFF2-40B4-BE49-F238E27FC236}">
                <a16:creationId xmlns:a16="http://schemas.microsoft.com/office/drawing/2014/main" id="{89812F48-A3F0-2E14-7F07-AAD3BCC7A78F}"/>
              </a:ext>
            </a:extLst>
          </p:cNvPr>
          <p:cNvPicPr>
            <a:picLocks noChangeAspect="1"/>
          </p:cNvPicPr>
          <p:nvPr/>
        </p:nvPicPr>
        <p:blipFill>
          <a:blip r:embed="rId3"/>
          <a:srcRect l="4241" r="223" b="806"/>
          <a:stretch>
            <a:fillRect/>
          </a:stretch>
        </p:blipFill>
        <p:spPr>
          <a:xfrm>
            <a:off x="613804" y="3312739"/>
            <a:ext cx="4678177" cy="1375546"/>
          </a:xfrm>
          <a:prstGeom prst="rect">
            <a:avLst/>
          </a:prstGeom>
          <a:ln w="28575">
            <a:solidFill>
              <a:schemeClr val="bg2">
                <a:lumMod val="75000"/>
              </a:schemeClr>
            </a:solidFill>
          </a:ln>
        </p:spPr>
      </p:pic>
      <p:sp>
        <p:nvSpPr>
          <p:cNvPr id="11" name="Segnaposto contenuto 2">
            <a:extLst>
              <a:ext uri="{FF2B5EF4-FFF2-40B4-BE49-F238E27FC236}">
                <a16:creationId xmlns:a16="http://schemas.microsoft.com/office/drawing/2014/main" id="{F95F27A1-B900-290C-6579-A80F95DF2457}"/>
              </a:ext>
            </a:extLst>
          </p:cNvPr>
          <p:cNvSpPr txBox="1">
            <a:spLocks/>
          </p:cNvSpPr>
          <p:nvPr/>
        </p:nvSpPr>
        <p:spPr>
          <a:xfrm>
            <a:off x="604594" y="4806052"/>
            <a:ext cx="4678753" cy="1464541"/>
          </a:xfrm>
          <a:prstGeom prst="rect">
            <a:avLst/>
          </a:prstGeom>
          <a:solidFill>
            <a:schemeClr val="bg1"/>
          </a:solidFill>
          <a:ln w="28575">
            <a:solidFill>
              <a:schemeClr val="bg2">
                <a:lumMod val="75000"/>
              </a:schemeClr>
            </a:solidFill>
          </a:ln>
        </p:spPr>
        <p:txBody>
          <a:bodyPr vert="horz" lIns="91440" tIns="45720" rIns="91440" bIns="45720" rtlCol="0" anchor="ctr">
            <a:normAutofit fontScale="925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20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9pPr>
          </a:lstStyle>
          <a:p>
            <a:pPr marL="305435" indent="-305435" algn="just"/>
            <a:r>
              <a:rPr lang="it-IT" sz="1600" b="1"/>
              <a:t>RELATIONSHIP KEYS</a:t>
            </a:r>
            <a:r>
              <a:rPr lang="it-IT" sz="1600"/>
              <a:t>: </a:t>
            </a:r>
            <a:r>
              <a:rPr lang="it-IT" sz="1600" err="1"/>
              <a:t>CustomerID</a:t>
            </a:r>
            <a:r>
              <a:rPr lang="it-IT" sz="1600"/>
              <a:t>, Product ID, Date</a:t>
            </a:r>
          </a:p>
          <a:p>
            <a:pPr marL="305435" indent="-305435" algn="just"/>
            <a:r>
              <a:rPr lang="it-IT" sz="1600"/>
              <a:t>Il tipo di cardinalità è </a:t>
            </a:r>
            <a:r>
              <a:rPr lang="it-IT" sz="1600" b="1"/>
              <a:t>MANY TO ONE (*:1)</a:t>
            </a:r>
          </a:p>
          <a:p>
            <a:pPr marL="305435" indent="-305435" algn="just"/>
            <a:r>
              <a:rPr lang="it-IT" sz="1600"/>
              <a:t>La </a:t>
            </a:r>
            <a:r>
              <a:rPr lang="it-IT" sz="1600" b="1"/>
              <a:t>direzione di propagazione del filtro</a:t>
            </a:r>
            <a:r>
              <a:rPr lang="it-IT" sz="1600"/>
              <a:t>: dalle tabelle di dimensione alla tabella dei fatti</a:t>
            </a:r>
          </a:p>
        </p:txBody>
      </p:sp>
    </p:spTree>
    <p:extLst>
      <p:ext uri="{BB962C8B-B14F-4D97-AF65-F5344CB8AC3E}">
        <p14:creationId xmlns:p14="http://schemas.microsoft.com/office/powerpoint/2010/main" val="1715263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B68772B3-49E8-8DB4-6285-2C062C553EED}"/>
              </a:ext>
            </a:extLst>
          </p:cNvPr>
          <p:cNvSpPr>
            <a:spLocks noGrp="1"/>
          </p:cNvSpPr>
          <p:nvPr>
            <p:ph type="body" idx="1"/>
          </p:nvPr>
        </p:nvSpPr>
        <p:spPr>
          <a:xfrm>
            <a:off x="455931" y="737329"/>
            <a:ext cx="11175947" cy="557784"/>
          </a:xfrm>
        </p:spPr>
        <p:txBody>
          <a:bodyPr/>
          <a:lstStyle/>
          <a:p>
            <a:r>
              <a:rPr lang="it-IT" sz="1800" b="1">
                <a:latin typeface="Franklin Gothic Book"/>
              </a:rPr>
              <a:t>Configurazioni, DAX e collegamenti semantici</a:t>
            </a:r>
          </a:p>
        </p:txBody>
      </p:sp>
      <p:sp>
        <p:nvSpPr>
          <p:cNvPr id="4" name="Segnaposto contenuto 3">
            <a:extLst>
              <a:ext uri="{FF2B5EF4-FFF2-40B4-BE49-F238E27FC236}">
                <a16:creationId xmlns:a16="http://schemas.microsoft.com/office/drawing/2014/main" id="{013BE0FC-A81B-4885-8C86-52BA245D1A40}"/>
              </a:ext>
            </a:extLst>
          </p:cNvPr>
          <p:cNvSpPr>
            <a:spLocks noGrp="1"/>
          </p:cNvSpPr>
          <p:nvPr>
            <p:ph sz="half" idx="2"/>
          </p:nvPr>
        </p:nvSpPr>
        <p:spPr>
          <a:xfrm>
            <a:off x="643824" y="2174798"/>
            <a:ext cx="4818986" cy="4291678"/>
          </a:xfrm>
          <a:ln w="28575">
            <a:noFill/>
          </a:ln>
        </p:spPr>
        <p:txBody>
          <a:bodyPr vert="horz" lIns="91440" tIns="45720" rIns="91440" bIns="45720" rtlCol="0" anchor="t">
            <a:normAutofit lnSpcReduction="10000"/>
          </a:bodyPr>
          <a:lstStyle/>
          <a:p>
            <a:pPr marL="305435" indent="-305435" algn="just"/>
            <a:r>
              <a:rPr lang="it-IT" sz="1600" dirty="0" err="1"/>
              <a:t>E'</a:t>
            </a:r>
            <a:r>
              <a:rPr lang="it-IT" sz="1600" dirty="0"/>
              <a:t> stata specificata la </a:t>
            </a:r>
            <a:r>
              <a:rPr lang="it-IT" sz="1600" b="1" dirty="0"/>
              <a:t>Data </a:t>
            </a:r>
            <a:r>
              <a:rPr lang="it-IT" sz="1600" b="1" dirty="0" err="1"/>
              <a:t>Category</a:t>
            </a:r>
            <a:r>
              <a:rPr lang="it-IT" sz="1600" dirty="0"/>
              <a:t> per la colonna </a:t>
            </a:r>
            <a:r>
              <a:rPr lang="it-IT" sz="1600" dirty="0" err="1"/>
              <a:t>Customer[</a:t>
            </a:r>
            <a:r>
              <a:rPr lang="it-IT" sz="1600" b="1" dirty="0" err="1"/>
              <a:t>Region</a:t>
            </a:r>
            <a:r>
              <a:rPr lang="it-IT" sz="1600" dirty="0"/>
              <a:t>] in </a:t>
            </a:r>
            <a:r>
              <a:rPr lang="it-IT" sz="1600" b="1" dirty="0" err="1"/>
              <a:t>Continent</a:t>
            </a:r>
            <a:r>
              <a:rPr lang="it-IT" sz="1600" b="1" dirty="0"/>
              <a:t> </a:t>
            </a:r>
            <a:r>
              <a:rPr lang="it-IT" sz="1600" dirty="0"/>
              <a:t>affinché i valori siano correttamente interpretati nella </a:t>
            </a:r>
            <a:r>
              <a:rPr lang="it-IT" sz="1600" dirty="0" err="1"/>
              <a:t>Bubble</a:t>
            </a:r>
            <a:r>
              <a:rPr lang="it-IT" sz="1600" dirty="0"/>
              <a:t> Maps</a:t>
            </a:r>
          </a:p>
          <a:p>
            <a:pPr marL="305435" indent="-305435"/>
            <a:endParaRPr lang="it-IT" dirty="0"/>
          </a:p>
          <a:p>
            <a:pPr marL="305435" indent="-305435"/>
            <a:endParaRPr lang="it-IT" dirty="0"/>
          </a:p>
          <a:p>
            <a:pPr marL="305435" indent="-305435" algn="just"/>
            <a:r>
              <a:rPr lang="it-IT" sz="1600"/>
              <a:t>Sono state nascoste tutte quelle colonne utilizzate dalle</a:t>
            </a:r>
            <a:r>
              <a:rPr lang="it-IT" sz="1600" dirty="0"/>
              <a:t> relazioni o nella logica di calcolo </a:t>
            </a:r>
            <a:r>
              <a:rPr lang="it-IT" sz="1600"/>
              <a:t>ma non necessarie per la creazione di </a:t>
            </a:r>
            <a:r>
              <a:rPr lang="it-IT" sz="1600" dirty="0"/>
              <a:t>Visual</a:t>
            </a:r>
          </a:p>
          <a:p>
            <a:pPr marL="0" indent="0">
              <a:buNone/>
            </a:pPr>
            <a:r>
              <a:rPr lang="it-IT" sz="1200" dirty="0"/>
              <a:t>Date [Date], Date [</a:t>
            </a:r>
            <a:r>
              <a:rPr lang="it-IT" sz="1200" dirty="0" err="1"/>
              <a:t>Monthkey</a:t>
            </a:r>
            <a:r>
              <a:rPr lang="it-IT" sz="1200" dirty="0"/>
              <a:t>], </a:t>
            </a:r>
            <a:endParaRPr lang="it-IT" sz="1200" dirty="0" err="1"/>
          </a:p>
          <a:p>
            <a:pPr marL="0" indent="0">
              <a:buNone/>
            </a:pPr>
            <a:r>
              <a:rPr lang="it-IT" sz="1200" dirty="0" err="1"/>
              <a:t>Customer[CustomerID],  Product</a:t>
            </a:r>
            <a:r>
              <a:rPr lang="it-IT" sz="1200" dirty="0"/>
              <a:t>[</a:t>
            </a:r>
            <a:r>
              <a:rPr lang="it-IT" sz="1200" dirty="0" err="1"/>
              <a:t>ProductID</a:t>
            </a:r>
            <a:r>
              <a:rPr lang="it-IT" sz="1200" dirty="0"/>
              <a:t>], </a:t>
            </a:r>
          </a:p>
          <a:p>
            <a:pPr marL="0" indent="0">
              <a:buNone/>
            </a:pPr>
            <a:r>
              <a:rPr lang="it-IT" sz="1200" dirty="0" err="1"/>
              <a:t>Transactions</a:t>
            </a:r>
            <a:r>
              <a:rPr lang="it-IT" sz="1200" dirty="0"/>
              <a:t>[Date], </a:t>
            </a:r>
            <a:r>
              <a:rPr lang="it-IT" sz="1200" dirty="0" err="1"/>
              <a:t>Transactions</a:t>
            </a:r>
            <a:r>
              <a:rPr lang="it-IT" sz="1200" dirty="0"/>
              <a:t>[</a:t>
            </a:r>
            <a:r>
              <a:rPr lang="it-IT" sz="1200" dirty="0" err="1"/>
              <a:t>CustomerID</a:t>
            </a:r>
            <a:r>
              <a:rPr lang="it-IT" sz="1200" dirty="0"/>
              <a:t>], </a:t>
            </a:r>
            <a:r>
              <a:rPr lang="it-IT" sz="1200" dirty="0" err="1"/>
              <a:t>Transactions</a:t>
            </a:r>
            <a:r>
              <a:rPr lang="it-IT" sz="1200" dirty="0"/>
              <a:t>[Product ID], </a:t>
            </a:r>
            <a:r>
              <a:rPr lang="it-IT" sz="1200" dirty="0" err="1"/>
              <a:t>Transactions</a:t>
            </a:r>
            <a:r>
              <a:rPr lang="it-IT" sz="1200" dirty="0"/>
              <a:t>[</a:t>
            </a:r>
            <a:r>
              <a:rPr lang="it-IT" sz="1200" dirty="0" err="1"/>
              <a:t>TransactionID</a:t>
            </a:r>
            <a:r>
              <a:rPr lang="it-IT" sz="1200" dirty="0"/>
              <a:t>] </a:t>
            </a:r>
          </a:p>
          <a:p>
            <a:pPr marL="0" indent="0">
              <a:buNone/>
            </a:pPr>
            <a:r>
              <a:rPr lang="it-IT" sz="1200" b="1" dirty="0"/>
              <a:t>non saranno visibili nei campi Data della Report </a:t>
            </a:r>
            <a:r>
              <a:rPr lang="it-IT" sz="1200" b="1" dirty="0" err="1"/>
              <a:t>View</a:t>
            </a:r>
            <a:endParaRPr lang="it-IT" sz="1200" b="1" dirty="0"/>
          </a:p>
          <a:p>
            <a:pPr marL="0" indent="0">
              <a:buNone/>
            </a:pPr>
            <a:endParaRPr lang="it-IT" sz="1200" dirty="0"/>
          </a:p>
          <a:p>
            <a:pPr marL="305435" indent="-305435"/>
            <a:endParaRPr lang="it-IT" dirty="0"/>
          </a:p>
          <a:p>
            <a:pPr marL="305435" indent="-305435"/>
            <a:endParaRPr lang="it-IT" dirty="0"/>
          </a:p>
        </p:txBody>
      </p:sp>
      <p:pic>
        <p:nvPicPr>
          <p:cNvPr id="8" name="Segnaposto contenuto 7" descr="Immagine che contiene testo, Carattere, schermata, bianco&#10;&#10;Il contenuto generato dall&amp;#39;IA potrebbe non essere corretto.">
            <a:extLst>
              <a:ext uri="{FF2B5EF4-FFF2-40B4-BE49-F238E27FC236}">
                <a16:creationId xmlns:a16="http://schemas.microsoft.com/office/drawing/2014/main" id="{2370E485-66C2-A4C8-0AA9-33649A8FEB4B}"/>
              </a:ext>
            </a:extLst>
          </p:cNvPr>
          <p:cNvPicPr>
            <a:picLocks noGrp="1" noChangeAspect="1"/>
          </p:cNvPicPr>
          <p:nvPr>
            <p:ph sz="quarter" idx="4"/>
          </p:nvPr>
        </p:nvPicPr>
        <p:blipFill>
          <a:blip r:embed="rId2"/>
          <a:srcRect t="-363" b="63415"/>
          <a:stretch>
            <a:fillRect/>
          </a:stretch>
        </p:blipFill>
        <p:spPr>
          <a:xfrm>
            <a:off x="3369622" y="3217844"/>
            <a:ext cx="1971675" cy="338872"/>
          </a:xfrm>
          <a:prstGeom prst="rect">
            <a:avLst/>
          </a:prstGeom>
        </p:spPr>
      </p:pic>
      <p:sp>
        <p:nvSpPr>
          <p:cNvPr id="7" name="Segnaposto data 6">
            <a:extLst>
              <a:ext uri="{FF2B5EF4-FFF2-40B4-BE49-F238E27FC236}">
                <a16:creationId xmlns:a16="http://schemas.microsoft.com/office/drawing/2014/main" id="{B2AB622B-10FE-A50D-9F49-D325735D1C8B}"/>
              </a:ext>
            </a:extLst>
          </p:cNvPr>
          <p:cNvSpPr>
            <a:spLocks noGrp="1"/>
          </p:cNvSpPr>
          <p:nvPr>
            <p:ph type="dt" sz="half" idx="10"/>
          </p:nvPr>
        </p:nvSpPr>
        <p:spPr/>
        <p:txBody>
          <a:bodyPr/>
          <a:lstStyle/>
          <a:p>
            <a:pPr rtl="0"/>
            <a:fld id="{2EDAC308-8BE6-45DD-8B68-B04D02410B09}" type="datetime1">
              <a:rPr lang="it-IT" smtClean="0"/>
              <a:pPr rtl="0"/>
              <a:t>21/03/2026</a:t>
            </a:fld>
            <a:endParaRPr lang="en-US"/>
          </a:p>
        </p:txBody>
      </p:sp>
      <p:sp>
        <p:nvSpPr>
          <p:cNvPr id="10" name="Segnaposto contenuto 3">
            <a:extLst>
              <a:ext uri="{FF2B5EF4-FFF2-40B4-BE49-F238E27FC236}">
                <a16:creationId xmlns:a16="http://schemas.microsoft.com/office/drawing/2014/main" id="{4F303B8B-ABCA-E5F8-DEC0-670CBD27CA57}"/>
              </a:ext>
            </a:extLst>
          </p:cNvPr>
          <p:cNvSpPr txBox="1">
            <a:spLocks/>
          </p:cNvSpPr>
          <p:nvPr/>
        </p:nvSpPr>
        <p:spPr>
          <a:xfrm>
            <a:off x="6433704" y="1846727"/>
            <a:ext cx="5194766" cy="4615573"/>
          </a:xfrm>
          <a:prstGeom prst="rect">
            <a:avLst/>
          </a:prstGeom>
          <a:ln w="28575">
            <a:solidFill>
              <a:schemeClr val="bg2">
                <a:lumMod val="75000"/>
              </a:schemeClr>
            </a:solidFill>
          </a:ln>
        </p:spPr>
        <p:txBody>
          <a:bodyPr vert="horz" lIns="91440" tIns="45720" rIns="91440" bIns="45720" rtlCol="0" anchor="t">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lgn="just"/>
            <a:endParaRPr lang="it-IT"/>
          </a:p>
          <a:p>
            <a:pPr marL="0" indent="0" algn="just">
              <a:buNone/>
            </a:pPr>
            <a:endParaRPr lang="it-IT" dirty="0"/>
          </a:p>
          <a:p>
            <a:pPr marL="0" indent="0">
              <a:buFont typeface="Wingdings 2" panose="05020102010507070707" pitchFamily="18" charset="2"/>
              <a:buNone/>
            </a:pPr>
            <a:endParaRPr lang="it-IT" sz="1200" dirty="0"/>
          </a:p>
          <a:p>
            <a:pPr marL="305435" indent="-305435"/>
            <a:endParaRPr lang="it-IT" dirty="0"/>
          </a:p>
          <a:p>
            <a:pPr marL="305435" indent="-305435"/>
            <a:endParaRPr lang="it-IT" dirty="0"/>
          </a:p>
        </p:txBody>
      </p:sp>
      <p:sp>
        <p:nvSpPr>
          <p:cNvPr id="14" name="Segnaposto contenuto 3">
            <a:extLst>
              <a:ext uri="{FF2B5EF4-FFF2-40B4-BE49-F238E27FC236}">
                <a16:creationId xmlns:a16="http://schemas.microsoft.com/office/drawing/2014/main" id="{19B47B2F-8E1F-FA9D-7ED6-7CBF08BC8CC9}"/>
              </a:ext>
            </a:extLst>
          </p:cNvPr>
          <p:cNvSpPr txBox="1">
            <a:spLocks/>
          </p:cNvSpPr>
          <p:nvPr/>
        </p:nvSpPr>
        <p:spPr>
          <a:xfrm>
            <a:off x="451758" y="1846728"/>
            <a:ext cx="5194766" cy="4615573"/>
          </a:xfrm>
          <a:prstGeom prst="rect">
            <a:avLst/>
          </a:prstGeom>
          <a:ln w="28575">
            <a:solidFill>
              <a:schemeClr val="accent6">
                <a:lumMod val="50000"/>
              </a:schemeClr>
            </a:solidFill>
          </a:ln>
        </p:spPr>
        <p:txBody>
          <a:bodyPr vert="horz" lIns="91440" tIns="45720" rIns="91440" bIns="45720" rtlCol="0" anchor="t">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endParaRPr lang="it-IT" dirty="0"/>
          </a:p>
        </p:txBody>
      </p:sp>
      <p:sp>
        <p:nvSpPr>
          <p:cNvPr id="16" name="Segnaposto contenuto 3">
            <a:extLst>
              <a:ext uri="{FF2B5EF4-FFF2-40B4-BE49-F238E27FC236}">
                <a16:creationId xmlns:a16="http://schemas.microsoft.com/office/drawing/2014/main" id="{91E0F868-BA17-1673-F1F2-191C2F477E70}"/>
              </a:ext>
            </a:extLst>
          </p:cNvPr>
          <p:cNvSpPr txBox="1">
            <a:spLocks/>
          </p:cNvSpPr>
          <p:nvPr/>
        </p:nvSpPr>
        <p:spPr>
          <a:xfrm>
            <a:off x="6612384" y="1847034"/>
            <a:ext cx="4756968" cy="1733821"/>
          </a:xfrm>
          <a:prstGeom prst="rect">
            <a:avLst/>
          </a:prstGeom>
          <a:ln w="28575">
            <a:noFill/>
          </a:ln>
        </p:spPr>
        <p:txBody>
          <a:bodyPr vert="horz" lIns="91440" tIns="45720" rIns="91440" bIns="45720" rtlCol="0" anchor="t">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lgn="just"/>
            <a:endParaRPr lang="it-IT"/>
          </a:p>
          <a:p>
            <a:pPr marL="305435" indent="-305435" algn="just"/>
            <a:r>
              <a:rPr lang="it-IT" sz="1600"/>
              <a:t>Sono stati </a:t>
            </a:r>
            <a:r>
              <a:rPr lang="it-IT" sz="1600" err="1"/>
              <a:t>creat</a:t>
            </a:r>
            <a:r>
              <a:rPr lang="it-IT" sz="1600"/>
              <a:t>i livelli di </a:t>
            </a:r>
            <a:r>
              <a:rPr lang="it-IT" sz="1600" b="1"/>
              <a:t>gerarchia </a:t>
            </a:r>
            <a:r>
              <a:rPr lang="it-IT" sz="1600"/>
              <a:t>tra i campi </a:t>
            </a:r>
            <a:r>
              <a:rPr lang="it-IT" sz="1600" b="1"/>
              <a:t>Date </a:t>
            </a:r>
            <a:r>
              <a:rPr lang="it-IT" sz="1600"/>
              <a:t>e i campi </a:t>
            </a:r>
            <a:r>
              <a:rPr lang="it-IT" sz="1600" b="1"/>
              <a:t>Prodotto </a:t>
            </a:r>
            <a:r>
              <a:rPr lang="it-IT" sz="1600"/>
              <a:t>per poter approfondire i dati ed effettuare analisi di dettaglio attraverso strumenti di drill down</a:t>
            </a:r>
            <a:r>
              <a:rPr lang="it-IT" sz="1600" dirty="0"/>
              <a:t> </a:t>
            </a:r>
          </a:p>
          <a:p>
            <a:pPr marL="305435" indent="-305435"/>
            <a:endParaRPr lang="it-IT" dirty="0"/>
          </a:p>
          <a:p>
            <a:pPr marL="0" indent="0">
              <a:buNone/>
            </a:pPr>
            <a:endParaRPr lang="it-IT" sz="1200" dirty="0"/>
          </a:p>
          <a:p>
            <a:pPr marL="305435" indent="-305435"/>
            <a:endParaRPr lang="it-IT" dirty="0"/>
          </a:p>
          <a:p>
            <a:pPr marL="305435" indent="-305435"/>
            <a:endParaRPr lang="it-IT" dirty="0"/>
          </a:p>
        </p:txBody>
      </p:sp>
      <p:pic>
        <p:nvPicPr>
          <p:cNvPr id="20" name="Segnaposto contenuto 7" descr="Immagine che contiene testo, Carattere, schermata, bianco&#10;&#10;Il contenuto generato dall&amp;#39;IA potrebbe non essere corretto.">
            <a:extLst>
              <a:ext uri="{FF2B5EF4-FFF2-40B4-BE49-F238E27FC236}">
                <a16:creationId xmlns:a16="http://schemas.microsoft.com/office/drawing/2014/main" id="{47B5D5D5-9D2A-4A50-2B99-571304CEC518}"/>
              </a:ext>
            </a:extLst>
          </p:cNvPr>
          <p:cNvPicPr>
            <a:picLocks noChangeAspect="1"/>
          </p:cNvPicPr>
          <p:nvPr/>
        </p:nvPicPr>
        <p:blipFill>
          <a:blip r:embed="rId2"/>
          <a:srcRect t="67901" r="1255" b="-1235"/>
          <a:stretch>
            <a:fillRect/>
          </a:stretch>
        </p:blipFill>
        <p:spPr>
          <a:xfrm>
            <a:off x="3370973" y="3553186"/>
            <a:ext cx="1969336" cy="305715"/>
          </a:xfrm>
          <a:prstGeom prst="rect">
            <a:avLst/>
          </a:prstGeom>
        </p:spPr>
      </p:pic>
      <p:pic>
        <p:nvPicPr>
          <p:cNvPr id="22" name="Immagine 21" descr="Immagine che contiene testo, Carattere, bianco, design&#10;&#10;Il contenuto generato dall&amp;#39;IA potrebbe non essere corretto.">
            <a:extLst>
              <a:ext uri="{FF2B5EF4-FFF2-40B4-BE49-F238E27FC236}">
                <a16:creationId xmlns:a16="http://schemas.microsoft.com/office/drawing/2014/main" id="{ED9D22BD-A1A3-A851-8AE2-CDE989BCF019}"/>
              </a:ext>
            </a:extLst>
          </p:cNvPr>
          <p:cNvPicPr>
            <a:picLocks noChangeAspect="1"/>
          </p:cNvPicPr>
          <p:nvPr/>
        </p:nvPicPr>
        <p:blipFill>
          <a:blip r:embed="rId3"/>
          <a:stretch>
            <a:fillRect/>
          </a:stretch>
        </p:blipFill>
        <p:spPr>
          <a:xfrm>
            <a:off x="9008409" y="3700182"/>
            <a:ext cx="2019300" cy="914400"/>
          </a:xfrm>
          <a:prstGeom prst="rect">
            <a:avLst/>
          </a:prstGeom>
        </p:spPr>
      </p:pic>
      <p:pic>
        <p:nvPicPr>
          <p:cNvPr id="23" name="Immagine 22" descr="Immagine che contiene testo, ricevuta, Carattere, bianco&#10;&#10;Il contenuto generato dall&amp;#39;IA potrebbe non essere corretto.">
            <a:extLst>
              <a:ext uri="{FF2B5EF4-FFF2-40B4-BE49-F238E27FC236}">
                <a16:creationId xmlns:a16="http://schemas.microsoft.com/office/drawing/2014/main" id="{CA7C212D-07DA-B7B6-D803-EDBC0B0C5F32}"/>
              </a:ext>
            </a:extLst>
          </p:cNvPr>
          <p:cNvPicPr>
            <a:picLocks noChangeAspect="1"/>
          </p:cNvPicPr>
          <p:nvPr/>
        </p:nvPicPr>
        <p:blipFill>
          <a:blip r:embed="rId4"/>
          <a:stretch>
            <a:fillRect/>
          </a:stretch>
        </p:blipFill>
        <p:spPr>
          <a:xfrm>
            <a:off x="6857719" y="3703544"/>
            <a:ext cx="1838325" cy="1714500"/>
          </a:xfrm>
          <a:prstGeom prst="rect">
            <a:avLst/>
          </a:prstGeom>
        </p:spPr>
      </p:pic>
      <p:graphicFrame>
        <p:nvGraphicFramePr>
          <p:cNvPr id="6" name="Segnaposto contenuto 2">
            <a:extLst>
              <a:ext uri="{FF2B5EF4-FFF2-40B4-BE49-F238E27FC236}">
                <a16:creationId xmlns:a16="http://schemas.microsoft.com/office/drawing/2014/main" id="{F00EB23F-3FBF-7EA1-2E2B-6A77E43C9BA3}"/>
              </a:ext>
            </a:extLst>
          </p:cNvPr>
          <p:cNvGraphicFramePr>
            <a:graphicFrameLocks/>
          </p:cNvGraphicFramePr>
          <p:nvPr>
            <p:extLst>
              <p:ext uri="{D42A27DB-BD31-4B8C-83A1-F6EECF244321}">
                <p14:modId xmlns:p14="http://schemas.microsoft.com/office/powerpoint/2010/main" val="3179393100"/>
              </p:ext>
            </p:extLst>
          </p:nvPr>
        </p:nvGraphicFramePr>
        <p:xfrm>
          <a:off x="445158" y="1008888"/>
          <a:ext cx="5215787" cy="313274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13" name="Segnaposto contenuto 2">
            <a:extLst>
              <a:ext uri="{FF2B5EF4-FFF2-40B4-BE49-F238E27FC236}">
                <a16:creationId xmlns:a16="http://schemas.microsoft.com/office/drawing/2014/main" id="{A8C89901-E3C6-8AC8-320D-5888A34FEBF0}"/>
              </a:ext>
            </a:extLst>
          </p:cNvPr>
          <p:cNvGraphicFramePr>
            <a:graphicFrameLocks/>
          </p:cNvGraphicFramePr>
          <p:nvPr>
            <p:extLst>
              <p:ext uri="{D42A27DB-BD31-4B8C-83A1-F6EECF244321}">
                <p14:modId xmlns:p14="http://schemas.microsoft.com/office/powerpoint/2010/main" val="244107928"/>
              </p:ext>
            </p:extLst>
          </p:nvPr>
        </p:nvGraphicFramePr>
        <p:xfrm>
          <a:off x="6384581" y="1019325"/>
          <a:ext cx="5215787" cy="313274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3483944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Segnaposto contenuto 2">
            <a:extLst>
              <a:ext uri="{FF2B5EF4-FFF2-40B4-BE49-F238E27FC236}">
                <a16:creationId xmlns:a16="http://schemas.microsoft.com/office/drawing/2014/main" id="{2C51A8F7-8B81-E9BC-2AD4-8B13D580B909}"/>
              </a:ext>
            </a:extLst>
          </p:cNvPr>
          <p:cNvGraphicFramePr>
            <a:graphicFrameLocks/>
          </p:cNvGraphicFramePr>
          <p:nvPr>
            <p:extLst>
              <p:ext uri="{D42A27DB-BD31-4B8C-83A1-F6EECF244321}">
                <p14:modId xmlns:p14="http://schemas.microsoft.com/office/powerpoint/2010/main" val="4007029121"/>
              </p:ext>
            </p:extLst>
          </p:nvPr>
        </p:nvGraphicFramePr>
        <p:xfrm>
          <a:off x="173761" y="403464"/>
          <a:ext cx="11854581" cy="263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egnaposto testo 2">
            <a:extLst>
              <a:ext uri="{FF2B5EF4-FFF2-40B4-BE49-F238E27FC236}">
                <a16:creationId xmlns:a16="http://schemas.microsoft.com/office/drawing/2014/main" id="{54248C68-138C-FC9F-6A6F-548A609CE3FA}"/>
              </a:ext>
            </a:extLst>
          </p:cNvPr>
          <p:cNvSpPr>
            <a:spLocks noGrp="1"/>
          </p:cNvSpPr>
          <p:nvPr>
            <p:ph type="body" sz="half" idx="2"/>
          </p:nvPr>
        </p:nvSpPr>
        <p:spPr>
          <a:xfrm>
            <a:off x="424616" y="1032594"/>
            <a:ext cx="11301014" cy="1379148"/>
          </a:xfrm>
          <a:solidFill>
            <a:schemeClr val="bg1"/>
          </a:solidFill>
          <a:ln>
            <a:noFill/>
          </a:ln>
        </p:spPr>
        <p:txBody>
          <a:bodyPr>
            <a:normAutofit/>
          </a:bodyPr>
          <a:lstStyle/>
          <a:p>
            <a:r>
              <a:rPr lang="it-IT" sz="1800" b="1" dirty="0" err="1"/>
              <a:t>Calculated</a:t>
            </a:r>
            <a:r>
              <a:rPr lang="it-IT" sz="1800" b="1" dirty="0"/>
              <a:t> </a:t>
            </a:r>
            <a:r>
              <a:rPr lang="it-IT" sz="1800" b="1" dirty="0" err="1"/>
              <a:t>column</a:t>
            </a:r>
            <a:endParaRPr lang="it-IT" dirty="0" err="1"/>
          </a:p>
          <a:p>
            <a:pPr marL="285750" indent="-285750">
              <a:lnSpc>
                <a:spcPct val="100000"/>
              </a:lnSpc>
              <a:spcBef>
                <a:spcPct val="0"/>
              </a:spcBef>
              <a:spcAft>
                <a:spcPct val="0"/>
              </a:spcAft>
              <a:buFont typeface="Wingdings"/>
              <a:buChar char="§"/>
            </a:pPr>
            <a:r>
              <a:rPr lang="it-IT" sz="1800" dirty="0"/>
              <a:t>E' stata scritta una formula DAX per aggiungere la colonna calcolata "</a:t>
            </a:r>
            <a:r>
              <a:rPr lang="it-IT" sz="1800" b="1" dirty="0"/>
              <a:t>Sales</a:t>
            </a:r>
            <a:r>
              <a:rPr lang="it-IT" sz="1800" dirty="0"/>
              <a:t>" alla tabella "</a:t>
            </a:r>
            <a:r>
              <a:rPr lang="it-IT" sz="1800" b="1" dirty="0" err="1"/>
              <a:t>Transactions</a:t>
            </a:r>
            <a:r>
              <a:rPr lang="it-IT" sz="1800" dirty="0"/>
              <a:t>"</a:t>
            </a:r>
          </a:p>
          <a:p>
            <a:pPr marL="285750" indent="-285750">
              <a:lnSpc>
                <a:spcPct val="100000"/>
              </a:lnSpc>
              <a:spcBef>
                <a:spcPct val="0"/>
              </a:spcBef>
              <a:spcAft>
                <a:spcPct val="0"/>
              </a:spcAft>
              <a:buFont typeface="Wingdings"/>
              <a:buChar char="§"/>
            </a:pPr>
            <a:endParaRPr lang="it-IT" sz="1800" dirty="0"/>
          </a:p>
          <a:p>
            <a:endParaRPr lang="it-IT" sz="1800" b="1" dirty="0"/>
          </a:p>
        </p:txBody>
      </p:sp>
      <p:sp>
        <p:nvSpPr>
          <p:cNvPr id="7" name="Segnaposto data 6">
            <a:extLst>
              <a:ext uri="{FF2B5EF4-FFF2-40B4-BE49-F238E27FC236}">
                <a16:creationId xmlns:a16="http://schemas.microsoft.com/office/drawing/2014/main" id="{38840EF8-B8AC-4DE2-FE8D-89C46D790808}"/>
              </a:ext>
            </a:extLst>
          </p:cNvPr>
          <p:cNvSpPr>
            <a:spLocks noGrp="1"/>
          </p:cNvSpPr>
          <p:nvPr>
            <p:ph type="dt" sz="half" idx="10"/>
          </p:nvPr>
        </p:nvSpPr>
        <p:spPr/>
        <p:txBody>
          <a:bodyPr/>
          <a:lstStyle/>
          <a:p>
            <a:pPr rtl="0"/>
            <a:fld id="{2EDAC308-8BE6-45DD-8B68-B04D02410B09}" type="datetime1">
              <a:rPr lang="it-IT" smtClean="0"/>
              <a:pPr rtl="0"/>
              <a:t>21/03/2026</a:t>
            </a:fld>
            <a:endParaRPr lang="en-US"/>
          </a:p>
        </p:txBody>
      </p:sp>
      <p:pic>
        <p:nvPicPr>
          <p:cNvPr id="160" name="Immagine 159">
            <a:extLst>
              <a:ext uri="{FF2B5EF4-FFF2-40B4-BE49-F238E27FC236}">
                <a16:creationId xmlns:a16="http://schemas.microsoft.com/office/drawing/2014/main" id="{F1E9701C-EF38-D48B-1415-0CB3EDEBED3D}"/>
              </a:ext>
            </a:extLst>
          </p:cNvPr>
          <p:cNvPicPr>
            <a:picLocks noChangeAspect="1"/>
          </p:cNvPicPr>
          <p:nvPr/>
        </p:nvPicPr>
        <p:blipFill>
          <a:blip r:embed="rId7"/>
          <a:stretch>
            <a:fillRect/>
          </a:stretch>
        </p:blipFill>
        <p:spPr>
          <a:xfrm>
            <a:off x="823414" y="1716550"/>
            <a:ext cx="4162425" cy="270062"/>
          </a:xfrm>
          <a:prstGeom prst="rect">
            <a:avLst/>
          </a:prstGeom>
        </p:spPr>
      </p:pic>
      <p:sp>
        <p:nvSpPr>
          <p:cNvPr id="171" name="Segnaposto testo 2">
            <a:extLst>
              <a:ext uri="{FF2B5EF4-FFF2-40B4-BE49-F238E27FC236}">
                <a16:creationId xmlns:a16="http://schemas.microsoft.com/office/drawing/2014/main" id="{C979A59E-F8FA-3BEC-70DC-4F81A4BD0BDE}"/>
              </a:ext>
            </a:extLst>
          </p:cNvPr>
          <p:cNvSpPr txBox="1">
            <a:spLocks/>
          </p:cNvSpPr>
          <p:nvPr/>
        </p:nvSpPr>
        <p:spPr>
          <a:xfrm>
            <a:off x="430113" y="2150236"/>
            <a:ext cx="11290576" cy="4519710"/>
          </a:xfrm>
          <a:prstGeom prst="rect">
            <a:avLst/>
          </a:prstGeom>
          <a:solidFill>
            <a:schemeClr val="bg1"/>
          </a:solidFill>
          <a:ln>
            <a:noFill/>
          </a:ln>
        </p:spPr>
        <p:txBody>
          <a:bodyPr vert="horz" lIns="91440" tIns="45720" rIns="91440" bIns="45720" rtlCol="0" anchor="t">
            <a:normAutofit fontScale="92500" lnSpcReduction="20000"/>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a:solidFill>
                  <a:schemeClr val="tx1">
                    <a:lumMod val="75000"/>
                    <a:lumOff val="25000"/>
                  </a:schemeClr>
                </a:solidFill>
                <a:latin typeface="+mn-lt"/>
                <a:ea typeface="+mn-ea"/>
                <a:cs typeface="+mn-cs"/>
              </a:defRPr>
            </a:lvl1pPr>
            <a:lvl2pPr marL="4572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200" kern="1200">
                <a:solidFill>
                  <a:schemeClr val="tx1">
                    <a:lumMod val="75000"/>
                    <a:lumOff val="25000"/>
                  </a:schemeClr>
                </a:solidFill>
                <a:latin typeface="+mn-lt"/>
                <a:ea typeface="+mn-ea"/>
                <a:cs typeface="+mn-cs"/>
              </a:defRPr>
            </a:lvl2pPr>
            <a:lvl3pPr marL="9144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000" kern="1200">
                <a:solidFill>
                  <a:schemeClr val="tx1">
                    <a:lumMod val="75000"/>
                    <a:lumOff val="25000"/>
                  </a:schemeClr>
                </a:solidFill>
                <a:latin typeface="+mn-lt"/>
                <a:ea typeface="+mn-ea"/>
                <a:cs typeface="+mn-cs"/>
              </a:defRPr>
            </a:lvl3pPr>
            <a:lvl4pPr marL="13716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900" kern="1200">
                <a:solidFill>
                  <a:schemeClr val="tx1">
                    <a:lumMod val="75000"/>
                    <a:lumOff val="25000"/>
                  </a:schemeClr>
                </a:solidFill>
                <a:latin typeface="+mn-lt"/>
                <a:ea typeface="+mn-ea"/>
                <a:cs typeface="+mn-cs"/>
              </a:defRPr>
            </a:lvl4pPr>
            <a:lvl5pPr marL="18288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900" kern="1200">
                <a:solidFill>
                  <a:schemeClr val="tx1">
                    <a:lumMod val="75000"/>
                    <a:lumOff val="25000"/>
                  </a:schemeClr>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9pPr>
          </a:lstStyle>
          <a:p>
            <a:r>
              <a:rPr lang="it-IT" sz="1800" b="1" dirty="0"/>
              <a:t>Compound </a:t>
            </a:r>
            <a:r>
              <a:rPr lang="it-IT" sz="1800" b="1" dirty="0" err="1"/>
              <a:t>measures</a:t>
            </a:r>
            <a:r>
              <a:rPr lang="it-IT" sz="1800" b="1" dirty="0"/>
              <a:t> – DAX </a:t>
            </a:r>
            <a:r>
              <a:rPr lang="it-IT" sz="1800" b="1" dirty="0" err="1"/>
              <a:t>function</a:t>
            </a:r>
            <a:endParaRPr lang="it-IT" sz="1800" b="1"/>
          </a:p>
          <a:p>
            <a:pPr marL="285750" indent="-285750">
              <a:lnSpc>
                <a:spcPct val="100000"/>
              </a:lnSpc>
              <a:spcBef>
                <a:spcPct val="0"/>
              </a:spcBef>
              <a:spcAft>
                <a:spcPct val="0"/>
              </a:spcAft>
              <a:buFont typeface="Wingdings"/>
              <a:buChar char="§"/>
            </a:pPr>
            <a:r>
              <a:rPr lang="it-IT" sz="1800" dirty="0"/>
              <a:t>Sono state scritte formule DAX per creare misure composte sulla tabella "</a:t>
            </a:r>
            <a:r>
              <a:rPr lang="it-IT" sz="1800" dirty="0" err="1"/>
              <a:t>Transactions</a:t>
            </a:r>
            <a:r>
              <a:rPr lang="it-IT" sz="1800" dirty="0"/>
              <a:t>":</a:t>
            </a:r>
            <a:endParaRPr lang="it-IT"/>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nSpc>
                <a:spcPct val="100000"/>
              </a:lnSpc>
              <a:spcBef>
                <a:spcPct val="0"/>
              </a:spcBef>
              <a:spcAft>
                <a:spcPct val="0"/>
              </a:spcAft>
              <a:buFont typeface="Wingdings"/>
              <a:buChar char="§"/>
            </a:pPr>
            <a:endParaRPr lang="it-IT" sz="1800" dirty="0"/>
          </a:p>
          <a:p>
            <a:pPr marL="285750" indent="-285750" algn="just">
              <a:lnSpc>
                <a:spcPct val="100000"/>
              </a:lnSpc>
              <a:spcBef>
                <a:spcPct val="0"/>
              </a:spcBef>
              <a:spcAft>
                <a:spcPct val="0"/>
              </a:spcAft>
              <a:buFont typeface="Wingdings"/>
              <a:buChar char="§"/>
            </a:pPr>
            <a:endParaRPr lang="it-IT" sz="1800" dirty="0"/>
          </a:p>
          <a:p>
            <a:pPr marL="285750" indent="-285750" algn="just">
              <a:lnSpc>
                <a:spcPct val="100000"/>
              </a:lnSpc>
              <a:spcBef>
                <a:spcPct val="0"/>
              </a:spcBef>
              <a:spcAft>
                <a:spcPct val="0"/>
              </a:spcAft>
              <a:buFont typeface="Wingdings"/>
              <a:buChar char="§"/>
            </a:pPr>
            <a:r>
              <a:rPr lang="it-IT" sz="1800" b="1" dirty="0"/>
              <a:t>SUMX/RELATED DAX </a:t>
            </a:r>
            <a:r>
              <a:rPr lang="it-IT" sz="1800" b="1" dirty="0" err="1"/>
              <a:t>functions</a:t>
            </a:r>
            <a:r>
              <a:rPr lang="it-IT" sz="1800" dirty="0"/>
              <a:t> utilizzate per gestire l'operazione tra due colonne provenienti da due tabelle diverse: "</a:t>
            </a:r>
            <a:r>
              <a:rPr lang="it-IT" sz="1800" dirty="0" err="1"/>
              <a:t>Quantity</a:t>
            </a:r>
            <a:r>
              <a:rPr lang="it-IT" sz="1800" dirty="0"/>
              <a:t>" della tabella "</a:t>
            </a:r>
            <a:r>
              <a:rPr lang="it-IT" sz="1800" dirty="0" err="1"/>
              <a:t>Transactions</a:t>
            </a:r>
            <a:r>
              <a:rPr lang="it-IT" sz="1800" dirty="0"/>
              <a:t>", "</a:t>
            </a:r>
            <a:r>
              <a:rPr lang="it-IT" sz="1800" dirty="0" err="1"/>
              <a:t>ProductCost</a:t>
            </a:r>
            <a:r>
              <a:rPr lang="it-IT" sz="1800" dirty="0"/>
              <a:t>" dalla tabella "Products"</a:t>
            </a:r>
          </a:p>
          <a:p>
            <a:pPr marL="285750" indent="-285750" algn="just">
              <a:lnSpc>
                <a:spcPct val="100000"/>
              </a:lnSpc>
              <a:spcBef>
                <a:spcPct val="0"/>
              </a:spcBef>
              <a:spcAft>
                <a:spcPct val="0"/>
              </a:spcAft>
              <a:buFont typeface="Wingdings"/>
              <a:buChar char="§"/>
            </a:pPr>
            <a:endParaRPr lang="it-IT" sz="800" dirty="0"/>
          </a:p>
          <a:p>
            <a:pPr marL="285750" indent="-285750" algn="just">
              <a:lnSpc>
                <a:spcPct val="100000"/>
              </a:lnSpc>
              <a:spcBef>
                <a:spcPct val="0"/>
              </a:spcBef>
              <a:spcAft>
                <a:spcPct val="0"/>
              </a:spcAft>
              <a:buFont typeface="Wingdings"/>
              <a:buChar char="§"/>
            </a:pPr>
            <a:r>
              <a:rPr lang="it-IT" sz="1800" b="1" dirty="0"/>
              <a:t>CALCULATE DAX </a:t>
            </a:r>
            <a:r>
              <a:rPr lang="it-IT" sz="1800" b="1" dirty="0" err="1"/>
              <a:t>function</a:t>
            </a:r>
            <a:r>
              <a:rPr lang="it-IT" sz="1800" dirty="0"/>
              <a:t> utilizzata per calcolare:</a:t>
            </a:r>
            <a:endParaRPr lang="it-IT" dirty="0"/>
          </a:p>
          <a:p>
            <a:pPr marL="742950" lvl="1" indent="-285750" algn="just">
              <a:lnSpc>
                <a:spcPct val="100000"/>
              </a:lnSpc>
              <a:spcBef>
                <a:spcPct val="0"/>
              </a:spcBef>
              <a:spcAft>
                <a:spcPct val="0"/>
              </a:spcAft>
              <a:buFont typeface="Courier New,monospace"/>
              <a:buChar char="o"/>
            </a:pPr>
            <a:r>
              <a:rPr lang="it-IT" sz="1400"/>
              <a:t>la vendita per lo stesso periodo anno precedente;</a:t>
            </a:r>
            <a:endParaRPr lang="it-IT" sz="1400">
              <a:solidFill>
                <a:srgbClr val="000000"/>
              </a:solidFill>
            </a:endParaRPr>
          </a:p>
          <a:p>
            <a:pPr marL="742950" lvl="1" indent="-285750" algn="just">
              <a:lnSpc>
                <a:spcPct val="100000"/>
              </a:lnSpc>
              <a:spcBef>
                <a:spcPct val="0"/>
              </a:spcBef>
              <a:spcAft>
                <a:spcPct val="0"/>
              </a:spcAft>
              <a:buFont typeface="Courier New,monospace"/>
              <a:buChar char="o"/>
            </a:pPr>
            <a:r>
              <a:rPr lang="it-IT" sz="1400"/>
              <a:t>la % di vendita sul totale, per analisi circa il peso specifico di ogni categoria/prodotto/continente sul totale di vendita o per analisi sul peso delle vendite sul totale filtrate per anno/mese </a:t>
            </a:r>
            <a:endParaRPr lang="it-IT"/>
          </a:p>
          <a:p>
            <a:pPr marL="742950" lvl="1" indent="-285750" algn="just">
              <a:spcBef>
                <a:spcPct val="0"/>
              </a:spcBef>
              <a:spcAft>
                <a:spcPct val="0"/>
              </a:spcAft>
              <a:buFont typeface="Courier New,monospace"/>
              <a:buChar char="o"/>
            </a:pPr>
            <a:endParaRPr lang="it-IT" sz="800" dirty="0"/>
          </a:p>
          <a:p>
            <a:pPr marL="285750" indent="-285750" algn="just">
              <a:spcBef>
                <a:spcPct val="0"/>
              </a:spcBef>
              <a:spcAft>
                <a:spcPct val="0"/>
              </a:spcAft>
              <a:buFont typeface="Wingdings"/>
              <a:buChar char="§"/>
            </a:pPr>
            <a:r>
              <a:rPr lang="it-IT" sz="1800"/>
              <a:t>Sono state inserite </a:t>
            </a:r>
            <a:r>
              <a:rPr lang="it-IT" sz="1800" b="1"/>
              <a:t>Descrizioni </a:t>
            </a:r>
            <a:r>
              <a:rPr lang="it-IT" sz="1800"/>
              <a:t>sui campi dati numerici per lasciare informazioni su come trattare gli stessi</a:t>
            </a:r>
            <a:endParaRPr lang="it-IT" sz="1800" dirty="0"/>
          </a:p>
          <a:p>
            <a:pPr marL="285750" indent="-285750" algn="just">
              <a:spcBef>
                <a:spcPct val="0"/>
              </a:spcBef>
              <a:spcAft>
                <a:spcPct val="0"/>
              </a:spcAft>
              <a:buFont typeface="Wingdings"/>
              <a:buChar char="§"/>
            </a:pPr>
            <a:r>
              <a:rPr lang="it-IT" sz="1800" dirty="0" err="1"/>
              <a:t>E'</a:t>
            </a:r>
            <a:r>
              <a:rPr lang="it-IT" sz="1800" dirty="0"/>
              <a:t> stata impostata la proprietà </a:t>
            </a:r>
            <a:r>
              <a:rPr lang="it-IT" sz="1800" b="1" dirty="0" err="1"/>
              <a:t>Decimal</a:t>
            </a:r>
            <a:r>
              <a:rPr lang="it-IT" sz="1800" b="1" dirty="0"/>
              <a:t> Places</a:t>
            </a:r>
            <a:r>
              <a:rPr lang="it-IT" sz="1800" dirty="0"/>
              <a:t> su </a:t>
            </a:r>
            <a:r>
              <a:rPr lang="it-IT" sz="1800" b="1" dirty="0"/>
              <a:t>0 </a:t>
            </a:r>
            <a:r>
              <a:rPr lang="it-IT" sz="1800" dirty="0"/>
              <a:t>per i </a:t>
            </a:r>
            <a:r>
              <a:rPr lang="it-IT" sz="1800" b="1" dirty="0"/>
              <a:t>valori monetari assoluti</a:t>
            </a:r>
            <a:r>
              <a:rPr lang="it-IT" sz="1800" dirty="0"/>
              <a:t> (Profitto, Costo, Vendite) e su </a:t>
            </a:r>
            <a:r>
              <a:rPr lang="it-IT" sz="1800" b="1" dirty="0"/>
              <a:t>2 </a:t>
            </a:r>
            <a:r>
              <a:rPr lang="it-IT" sz="1800" dirty="0"/>
              <a:t>per i </a:t>
            </a:r>
            <a:r>
              <a:rPr lang="it-IT" sz="1800" b="1" dirty="0"/>
              <a:t>valori percentuali</a:t>
            </a:r>
            <a:r>
              <a:rPr lang="it-IT" sz="1800" dirty="0"/>
              <a:t> (Profit </a:t>
            </a:r>
            <a:r>
              <a:rPr lang="it-IT" sz="1800" dirty="0" err="1"/>
              <a:t>Margin,Sales</a:t>
            </a:r>
            <a:r>
              <a:rPr lang="it-IT" sz="1800" dirty="0"/>
              <a:t> % vs Total) in modo da avere un report più pulito ma non perdere variazioni % importanti in termini di redditività</a:t>
            </a:r>
          </a:p>
          <a:p>
            <a:pPr marL="285750" indent="-285750" algn="just">
              <a:spcBef>
                <a:spcPct val="0"/>
              </a:spcBef>
              <a:spcAft>
                <a:spcPct val="0"/>
              </a:spcAft>
              <a:buFont typeface="Wingdings"/>
              <a:buChar char="§"/>
            </a:pPr>
            <a:endParaRPr lang="it-IT" sz="1800" dirty="0"/>
          </a:p>
        </p:txBody>
      </p:sp>
      <p:pic>
        <p:nvPicPr>
          <p:cNvPr id="10" name="Immagine 9" descr="Immagine che contiene testo, Carattere, schermata, algebra&#10;&#10;Il contenuto generato dall&amp;#39;IA potrebbe non essere corretto.">
            <a:extLst>
              <a:ext uri="{FF2B5EF4-FFF2-40B4-BE49-F238E27FC236}">
                <a16:creationId xmlns:a16="http://schemas.microsoft.com/office/drawing/2014/main" id="{BA28BE18-1453-B40C-C0F4-F9CAD5219822}"/>
              </a:ext>
            </a:extLst>
          </p:cNvPr>
          <p:cNvPicPr>
            <a:picLocks noChangeAspect="1"/>
          </p:cNvPicPr>
          <p:nvPr/>
        </p:nvPicPr>
        <p:blipFill>
          <a:blip r:embed="rId8"/>
          <a:stretch>
            <a:fillRect/>
          </a:stretch>
        </p:blipFill>
        <p:spPr>
          <a:xfrm>
            <a:off x="9527610" y="2245227"/>
            <a:ext cx="2030260" cy="1814316"/>
          </a:xfrm>
          <a:prstGeom prst="rect">
            <a:avLst/>
          </a:prstGeom>
        </p:spPr>
      </p:pic>
      <p:pic>
        <p:nvPicPr>
          <p:cNvPr id="13" name="Immagine 12">
            <a:extLst>
              <a:ext uri="{FF2B5EF4-FFF2-40B4-BE49-F238E27FC236}">
                <a16:creationId xmlns:a16="http://schemas.microsoft.com/office/drawing/2014/main" id="{B011B38C-D939-C527-8CFE-FF9566592D6F}"/>
              </a:ext>
            </a:extLst>
          </p:cNvPr>
          <p:cNvPicPr>
            <a:picLocks noChangeAspect="1"/>
          </p:cNvPicPr>
          <p:nvPr/>
        </p:nvPicPr>
        <p:blipFill>
          <a:blip r:embed="rId9"/>
          <a:stretch>
            <a:fillRect/>
          </a:stretch>
        </p:blipFill>
        <p:spPr>
          <a:xfrm>
            <a:off x="822737" y="3282473"/>
            <a:ext cx="5076825" cy="209550"/>
          </a:xfrm>
          <a:prstGeom prst="rect">
            <a:avLst/>
          </a:prstGeom>
        </p:spPr>
      </p:pic>
      <p:pic>
        <p:nvPicPr>
          <p:cNvPr id="14" name="Immagine 13">
            <a:extLst>
              <a:ext uri="{FF2B5EF4-FFF2-40B4-BE49-F238E27FC236}">
                <a16:creationId xmlns:a16="http://schemas.microsoft.com/office/drawing/2014/main" id="{A959260E-F9CC-724E-82EB-5C94295AED0A}"/>
              </a:ext>
            </a:extLst>
          </p:cNvPr>
          <p:cNvPicPr>
            <a:picLocks noChangeAspect="1"/>
          </p:cNvPicPr>
          <p:nvPr/>
        </p:nvPicPr>
        <p:blipFill>
          <a:blip r:embed="rId10"/>
          <a:stretch>
            <a:fillRect/>
          </a:stretch>
        </p:blipFill>
        <p:spPr>
          <a:xfrm>
            <a:off x="841396" y="3497827"/>
            <a:ext cx="8296275" cy="238125"/>
          </a:xfrm>
          <a:prstGeom prst="rect">
            <a:avLst/>
          </a:prstGeom>
        </p:spPr>
      </p:pic>
      <p:pic>
        <p:nvPicPr>
          <p:cNvPr id="15" name="Immagine 14">
            <a:extLst>
              <a:ext uri="{FF2B5EF4-FFF2-40B4-BE49-F238E27FC236}">
                <a16:creationId xmlns:a16="http://schemas.microsoft.com/office/drawing/2014/main" id="{4CA349F4-8F6B-8037-134E-22130E02C3C3}"/>
              </a:ext>
            </a:extLst>
          </p:cNvPr>
          <p:cNvPicPr>
            <a:picLocks noChangeAspect="1"/>
          </p:cNvPicPr>
          <p:nvPr/>
        </p:nvPicPr>
        <p:blipFill>
          <a:blip r:embed="rId11"/>
          <a:stretch>
            <a:fillRect/>
          </a:stretch>
        </p:blipFill>
        <p:spPr>
          <a:xfrm>
            <a:off x="827631" y="2838384"/>
            <a:ext cx="7029450" cy="200025"/>
          </a:xfrm>
          <a:prstGeom prst="rect">
            <a:avLst/>
          </a:prstGeom>
        </p:spPr>
      </p:pic>
      <p:pic>
        <p:nvPicPr>
          <p:cNvPr id="16" name="Immagine 15">
            <a:extLst>
              <a:ext uri="{FF2B5EF4-FFF2-40B4-BE49-F238E27FC236}">
                <a16:creationId xmlns:a16="http://schemas.microsoft.com/office/drawing/2014/main" id="{F5BF6545-80CE-7FE6-B46E-8B3927C161A0}"/>
              </a:ext>
            </a:extLst>
          </p:cNvPr>
          <p:cNvPicPr>
            <a:picLocks noChangeAspect="1"/>
          </p:cNvPicPr>
          <p:nvPr/>
        </p:nvPicPr>
        <p:blipFill>
          <a:blip r:embed="rId12"/>
          <a:stretch>
            <a:fillRect/>
          </a:stretch>
        </p:blipFill>
        <p:spPr>
          <a:xfrm>
            <a:off x="841723" y="3736997"/>
            <a:ext cx="7105650" cy="219075"/>
          </a:xfrm>
          <a:prstGeom prst="rect">
            <a:avLst/>
          </a:prstGeom>
        </p:spPr>
      </p:pic>
      <p:pic>
        <p:nvPicPr>
          <p:cNvPr id="19" name="Immagine 18">
            <a:extLst>
              <a:ext uri="{FF2B5EF4-FFF2-40B4-BE49-F238E27FC236}">
                <a16:creationId xmlns:a16="http://schemas.microsoft.com/office/drawing/2014/main" id="{1D3601D2-A573-CCB2-527C-22A2E1F8BD31}"/>
              </a:ext>
            </a:extLst>
          </p:cNvPr>
          <p:cNvPicPr>
            <a:picLocks noChangeAspect="1"/>
          </p:cNvPicPr>
          <p:nvPr/>
        </p:nvPicPr>
        <p:blipFill>
          <a:blip r:embed="rId13"/>
          <a:stretch>
            <a:fillRect/>
          </a:stretch>
        </p:blipFill>
        <p:spPr>
          <a:xfrm>
            <a:off x="827827" y="3038540"/>
            <a:ext cx="3876675" cy="238125"/>
          </a:xfrm>
          <a:prstGeom prst="rect">
            <a:avLst/>
          </a:prstGeom>
        </p:spPr>
      </p:pic>
    </p:spTree>
    <p:extLst>
      <p:ext uri="{BB962C8B-B14F-4D97-AF65-F5344CB8AC3E}">
        <p14:creationId xmlns:p14="http://schemas.microsoft.com/office/powerpoint/2010/main" val="423855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000B4EFE-E473-E5B6-D972-027B0C13D221}"/>
              </a:ext>
            </a:extLst>
          </p:cNvPr>
          <p:cNvSpPr>
            <a:spLocks noGrp="1"/>
          </p:cNvSpPr>
          <p:nvPr>
            <p:ph type="dt" sz="half" idx="10"/>
          </p:nvPr>
        </p:nvSpPr>
        <p:spPr/>
        <p:txBody>
          <a:bodyPr/>
          <a:lstStyle/>
          <a:p>
            <a:pPr rtl="0"/>
            <a:endParaRPr lang="en-US" dirty="0"/>
          </a:p>
        </p:txBody>
      </p:sp>
      <p:sp>
        <p:nvSpPr>
          <p:cNvPr id="4" name="Titolo 1">
            <a:extLst>
              <a:ext uri="{FF2B5EF4-FFF2-40B4-BE49-F238E27FC236}">
                <a16:creationId xmlns:a16="http://schemas.microsoft.com/office/drawing/2014/main" id="{AE4D83E0-4EBE-0D18-C63C-701BF3718D26}"/>
              </a:ext>
            </a:extLst>
          </p:cNvPr>
          <p:cNvSpPr txBox="1">
            <a:spLocks/>
          </p:cNvSpPr>
          <p:nvPr/>
        </p:nvSpPr>
        <p:spPr>
          <a:xfrm>
            <a:off x="487247" y="816978"/>
            <a:ext cx="11029616" cy="1188720"/>
          </a:xfrm>
          <a:prstGeom prst="rect">
            <a:avLst/>
          </a:prstGeom>
        </p:spPr>
        <p:txBody>
          <a:bodyPr lIns="91440" tIns="45720" rIns="91440" bIns="45720" anchor="t"/>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b="1" dirty="0"/>
              <a:t>Fase 3 - REPORT DESIGNER (Ricavi) </a:t>
            </a:r>
            <a:br>
              <a:rPr lang="it-IT" dirty="0"/>
            </a:br>
            <a:endParaRPr lang="it-IT" dirty="0"/>
          </a:p>
        </p:txBody>
      </p:sp>
      <p:sp>
        <p:nvSpPr>
          <p:cNvPr id="6" name="Segnaposto contenuto 2">
            <a:extLst>
              <a:ext uri="{FF2B5EF4-FFF2-40B4-BE49-F238E27FC236}">
                <a16:creationId xmlns:a16="http://schemas.microsoft.com/office/drawing/2014/main" id="{A97E94B1-3BBE-CED0-28F2-F7C219F772F9}"/>
              </a:ext>
            </a:extLst>
          </p:cNvPr>
          <p:cNvSpPr txBox="1">
            <a:spLocks/>
          </p:cNvSpPr>
          <p:nvPr/>
        </p:nvSpPr>
        <p:spPr>
          <a:xfrm>
            <a:off x="581193" y="1577726"/>
            <a:ext cx="11029615" cy="1547724"/>
          </a:xfrm>
          <a:prstGeom prst="rect">
            <a:avLst/>
          </a:prstGeom>
        </p:spPr>
        <p:txBody>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it-IT" sz="1800" b="1" dirty="0"/>
              <a:t>LAYOUT PAGINA</a:t>
            </a:r>
            <a:endParaRPr lang="it-IT" sz="1800" dirty="0"/>
          </a:p>
          <a:p>
            <a:r>
              <a:rPr lang="it-IT" dirty="0"/>
              <a:t>Strutturalmente il layout è stato organizzato seguendo la sequenza di Fibonacci, concentrando la sintesi dei dati in alto a sinistra, lasciando spazio a grafici più ampi nel resto della pagina e formattando i grafici in modo che siano facilmente leggibili</a:t>
            </a:r>
          </a:p>
          <a:p>
            <a:pPr marL="0" indent="0">
              <a:buNone/>
            </a:pPr>
            <a:endParaRPr lang="it-IT" dirty="0"/>
          </a:p>
        </p:txBody>
      </p:sp>
      <p:pic>
        <p:nvPicPr>
          <p:cNvPr id="8" name="Immagine 7">
            <a:extLst>
              <a:ext uri="{FF2B5EF4-FFF2-40B4-BE49-F238E27FC236}">
                <a16:creationId xmlns:a16="http://schemas.microsoft.com/office/drawing/2014/main" id="{069F0912-37CD-1D9B-FFA7-740348D08A6C}"/>
              </a:ext>
            </a:extLst>
          </p:cNvPr>
          <p:cNvPicPr>
            <a:picLocks noChangeAspect="1"/>
          </p:cNvPicPr>
          <p:nvPr/>
        </p:nvPicPr>
        <p:blipFill>
          <a:blip r:embed="rId2"/>
          <a:stretch>
            <a:fillRect/>
          </a:stretch>
        </p:blipFill>
        <p:spPr>
          <a:xfrm>
            <a:off x="2808154" y="2766446"/>
            <a:ext cx="6575691" cy="3718667"/>
          </a:xfrm>
          <a:prstGeom prst="rect">
            <a:avLst/>
          </a:prstGeom>
        </p:spPr>
      </p:pic>
      <p:pic>
        <p:nvPicPr>
          <p:cNvPr id="1026" name="Picture 2" descr="Fibonacci - La Sezione Aurea - Teoria sul Disegno - di Matthew Holden Bates">
            <a:extLst>
              <a:ext uri="{FF2B5EF4-FFF2-40B4-BE49-F238E27FC236}">
                <a16:creationId xmlns:a16="http://schemas.microsoft.com/office/drawing/2014/main" id="{DD8FC9B3-13D1-79B0-77EB-FC7328A621AA}"/>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2808154" y="2727879"/>
            <a:ext cx="5973580" cy="3757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472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06DA0006-C498-8603-2BD1-B970FFECD34A}"/>
              </a:ext>
            </a:extLst>
          </p:cNvPr>
          <p:cNvPicPr>
            <a:picLocks noChangeAspect="1"/>
          </p:cNvPicPr>
          <p:nvPr/>
        </p:nvPicPr>
        <p:blipFill>
          <a:blip r:embed="rId2" cstate="print"/>
          <a:stretch>
            <a:fillRect/>
          </a:stretch>
        </p:blipFill>
        <p:spPr>
          <a:xfrm>
            <a:off x="7808126" y="3323911"/>
            <a:ext cx="3666309" cy="1298187"/>
          </a:xfrm>
          <a:prstGeom prst="rect">
            <a:avLst/>
          </a:prstGeom>
        </p:spPr>
      </p:pic>
      <p:sp>
        <p:nvSpPr>
          <p:cNvPr id="2" name="Segnaposto data 1">
            <a:extLst>
              <a:ext uri="{FF2B5EF4-FFF2-40B4-BE49-F238E27FC236}">
                <a16:creationId xmlns:a16="http://schemas.microsoft.com/office/drawing/2014/main" id="{D831F603-514B-4CBE-B48D-422202BE6634}"/>
              </a:ext>
            </a:extLst>
          </p:cNvPr>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3" name="Segnaposto contenuto 2">
            <a:extLst>
              <a:ext uri="{FF2B5EF4-FFF2-40B4-BE49-F238E27FC236}">
                <a16:creationId xmlns:a16="http://schemas.microsoft.com/office/drawing/2014/main" id="{D800A6D0-5545-F7FF-58BA-F621E709F590}"/>
              </a:ext>
            </a:extLst>
          </p:cNvPr>
          <p:cNvSpPr txBox="1">
            <a:spLocks/>
          </p:cNvSpPr>
          <p:nvPr/>
        </p:nvSpPr>
        <p:spPr>
          <a:xfrm>
            <a:off x="581192" y="1015595"/>
            <a:ext cx="6614087" cy="3908674"/>
          </a:xfrm>
          <a:prstGeom prst="rect">
            <a:avLst/>
          </a:prstGeom>
        </p:spPr>
        <p:txBody>
          <a:bodyPr lIns="91440" tIns="45720" rIns="91440" bIns="45720" anchor="t"/>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it-IT" sz="1800" b="1"/>
              <a:t>PAGINA REVENUE OVERVIEW</a:t>
            </a:r>
            <a:endParaRPr lang="it-IT" sz="1800" dirty="0"/>
          </a:p>
          <a:p>
            <a:pPr marL="0" indent="0">
              <a:buNone/>
            </a:pPr>
            <a:r>
              <a:rPr lang="it-IT" dirty="0"/>
              <a:t>Nella prima pagina l’idea è quella di racchiudere tutti i dati relativi alle vendite e per farlo lo spazio è stato suddiviso in 3 </a:t>
            </a:r>
            <a:r>
              <a:rPr lang="it-IT" dirty="0" err="1"/>
              <a:t>macro aree</a:t>
            </a:r>
            <a:r>
              <a:rPr lang="it-IT" dirty="0"/>
              <a:t>:</a:t>
            </a:r>
          </a:p>
          <a:p>
            <a:pPr marL="305435" indent="-305435"/>
            <a:r>
              <a:rPr lang="it-IT" dirty="0"/>
              <a:t>1. </a:t>
            </a:r>
            <a:r>
              <a:rPr lang="it-IT" dirty="0" err="1"/>
              <a:t>Slicer</a:t>
            </a:r>
            <a:r>
              <a:rPr lang="it-IT" dirty="0"/>
              <a:t> sincronizzato con le altre </a:t>
            </a:r>
            <a:r>
              <a:rPr lang="it-IT" dirty="0" err="1"/>
              <a:t>pagine  +</a:t>
            </a:r>
            <a:r>
              <a:rPr lang="it-IT" dirty="0"/>
              <a:t> totali su vendite, costi e profitto</a:t>
            </a:r>
          </a:p>
          <a:p>
            <a:endParaRPr lang="it-IT" dirty="0"/>
          </a:p>
          <a:p>
            <a:endParaRPr lang="it-IT" dirty="0"/>
          </a:p>
          <a:p>
            <a:pPr marL="305435" indent="-305435"/>
            <a:r>
              <a:rPr lang="it-IT" dirty="0"/>
              <a:t>2. Grafico Line and </a:t>
            </a:r>
            <a:r>
              <a:rPr lang="it-IT" dirty="0" err="1"/>
              <a:t>stacked</a:t>
            </a:r>
            <a:r>
              <a:rPr lang="it-IT" dirty="0"/>
              <a:t> </a:t>
            </a:r>
            <a:r>
              <a:rPr lang="it-IT" dirty="0" err="1"/>
              <a:t>column</a:t>
            </a:r>
            <a:r>
              <a:rPr lang="it-IT" dirty="0"/>
              <a:t> chart per mostrare l’andamento mensile delle vendite e del margine</a:t>
            </a:r>
          </a:p>
          <a:p>
            <a:pPr marL="0" indent="0">
              <a:buNone/>
            </a:pPr>
            <a:endParaRPr lang="it-IT" dirty="0"/>
          </a:p>
          <a:p>
            <a:pPr marL="0" indent="0">
              <a:buNone/>
            </a:pPr>
            <a:endParaRPr lang="it-IT" dirty="0"/>
          </a:p>
          <a:p>
            <a:pPr marL="305435" indent="-305435"/>
            <a:r>
              <a:rPr lang="it-IT" dirty="0"/>
              <a:t>3. Grafico </a:t>
            </a:r>
            <a:r>
              <a:rPr lang="it-IT" dirty="0" err="1"/>
              <a:t>Clustered</a:t>
            </a:r>
            <a:r>
              <a:rPr lang="it-IT" dirty="0"/>
              <a:t> bar chart per la suddivisione delle vendite per area geografica</a:t>
            </a:r>
          </a:p>
          <a:p>
            <a:pPr marL="0" indent="0">
              <a:buNone/>
            </a:pPr>
            <a:endParaRPr lang="it-IT" dirty="0"/>
          </a:p>
        </p:txBody>
      </p:sp>
      <p:pic>
        <p:nvPicPr>
          <p:cNvPr id="6" name="Immagine 5">
            <a:extLst>
              <a:ext uri="{FF2B5EF4-FFF2-40B4-BE49-F238E27FC236}">
                <a16:creationId xmlns:a16="http://schemas.microsoft.com/office/drawing/2014/main" id="{6729DA64-3605-AEC8-DD5E-16AFF649E50D}"/>
              </a:ext>
            </a:extLst>
          </p:cNvPr>
          <p:cNvPicPr>
            <a:picLocks noChangeAspect="1"/>
          </p:cNvPicPr>
          <p:nvPr/>
        </p:nvPicPr>
        <p:blipFill>
          <a:blip r:embed="rId3"/>
          <a:stretch>
            <a:fillRect/>
          </a:stretch>
        </p:blipFill>
        <p:spPr>
          <a:xfrm>
            <a:off x="7808126" y="1478283"/>
            <a:ext cx="1680336" cy="1287016"/>
          </a:xfrm>
          <a:prstGeom prst="rect">
            <a:avLst/>
          </a:prstGeom>
        </p:spPr>
      </p:pic>
      <p:pic>
        <p:nvPicPr>
          <p:cNvPr id="10" name="Immagine 9">
            <a:extLst>
              <a:ext uri="{FF2B5EF4-FFF2-40B4-BE49-F238E27FC236}">
                <a16:creationId xmlns:a16="http://schemas.microsoft.com/office/drawing/2014/main" id="{54F9D7C1-9876-C74B-7A86-2D83588E260F}"/>
              </a:ext>
            </a:extLst>
          </p:cNvPr>
          <p:cNvPicPr>
            <a:picLocks noChangeAspect="1"/>
          </p:cNvPicPr>
          <p:nvPr/>
        </p:nvPicPr>
        <p:blipFill>
          <a:blip r:embed="rId4" cstate="print"/>
          <a:stretch>
            <a:fillRect/>
          </a:stretch>
        </p:blipFill>
        <p:spPr>
          <a:xfrm>
            <a:off x="7808126" y="5180711"/>
            <a:ext cx="4123394" cy="1057535"/>
          </a:xfrm>
          <a:prstGeom prst="rect">
            <a:avLst/>
          </a:prstGeom>
        </p:spPr>
      </p:pic>
    </p:spTree>
    <p:extLst>
      <p:ext uri="{BB962C8B-B14F-4D97-AF65-F5344CB8AC3E}">
        <p14:creationId xmlns:p14="http://schemas.microsoft.com/office/powerpoint/2010/main" val="252809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07F6994-FB66-0048-3FB8-2E72D235CD56}"/>
              </a:ext>
            </a:extLst>
          </p:cNvPr>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3" name="Segnaposto contenuto 2">
            <a:extLst>
              <a:ext uri="{FF2B5EF4-FFF2-40B4-BE49-F238E27FC236}">
                <a16:creationId xmlns:a16="http://schemas.microsoft.com/office/drawing/2014/main" id="{7DC533E4-2D77-5D49-C2A6-7D493DA63F44}"/>
              </a:ext>
            </a:extLst>
          </p:cNvPr>
          <p:cNvSpPr txBox="1">
            <a:spLocks/>
          </p:cNvSpPr>
          <p:nvPr/>
        </p:nvSpPr>
        <p:spPr>
          <a:xfrm>
            <a:off x="566201" y="1015595"/>
            <a:ext cx="6614087" cy="3908674"/>
          </a:xfrm>
          <a:prstGeom prst="rect">
            <a:avLst/>
          </a:prstGeom>
        </p:spPr>
        <p:txBody>
          <a:bodyPr lIns="91440" tIns="45720" rIns="91440" bIns="45720" anchor="t"/>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it-IT" sz="1800" b="1"/>
              <a:t>PAGINA REVENUE REPORT</a:t>
            </a:r>
            <a:endParaRPr lang="it-IT" sz="1800" dirty="0"/>
          </a:p>
          <a:p>
            <a:pPr marL="0" indent="0">
              <a:buNone/>
            </a:pPr>
            <a:r>
              <a:rPr lang="it-IT" dirty="0"/>
              <a:t>Nella seconda pagina abbiamo deciso di concentrarci alla distribuzione geografica delle vendite e del peso di ogni categoria sul fatturato totale:</a:t>
            </a:r>
          </a:p>
          <a:p>
            <a:pPr marL="305435" indent="-305435"/>
            <a:r>
              <a:rPr lang="it-IT" dirty="0"/>
              <a:t>Nel primo grafico nello specifico abbiamo voluto rappresentare la quantità di prodotti venduti per categoria e (sfruttando il </a:t>
            </a:r>
            <a:r>
              <a:rPr lang="it-IT" dirty="0" err="1"/>
              <a:t>tooltip</a:t>
            </a:r>
            <a:r>
              <a:rPr lang="it-IT" dirty="0"/>
              <a:t>) il peso di ogni categoria sul totale delle vendite</a:t>
            </a:r>
          </a:p>
          <a:p>
            <a:pPr marL="305435" indent="-305435"/>
            <a:r>
              <a:rPr lang="it-IT" dirty="0"/>
              <a:t>Nel secondo grafico invece abbiamo mostrato le vendite suddivise per regione e categoria utilizzano lo </a:t>
            </a:r>
            <a:r>
              <a:rPr lang="it-IT" dirty="0" err="1"/>
              <a:t>Stacked</a:t>
            </a:r>
            <a:r>
              <a:rPr lang="it-IT" dirty="0"/>
              <a:t> </a:t>
            </a:r>
            <a:r>
              <a:rPr lang="it-IT" dirty="0" err="1"/>
              <a:t>column</a:t>
            </a:r>
            <a:r>
              <a:rPr lang="it-IT" dirty="0"/>
              <a:t> chart</a:t>
            </a:r>
          </a:p>
          <a:p>
            <a:r>
              <a:rPr lang="it-IT" dirty="0"/>
              <a:t>Il terzo grafico lo abbiamo dedicato alla percentuale di profitto per ogni categoria</a:t>
            </a:r>
          </a:p>
        </p:txBody>
      </p:sp>
      <p:pic>
        <p:nvPicPr>
          <p:cNvPr id="5" name="Immagine 4">
            <a:extLst>
              <a:ext uri="{FF2B5EF4-FFF2-40B4-BE49-F238E27FC236}">
                <a16:creationId xmlns:a16="http://schemas.microsoft.com/office/drawing/2014/main" id="{4AFCAFDC-B1B3-CD42-7695-489B827C7761}"/>
              </a:ext>
            </a:extLst>
          </p:cNvPr>
          <p:cNvPicPr>
            <a:picLocks noChangeAspect="1"/>
          </p:cNvPicPr>
          <p:nvPr/>
        </p:nvPicPr>
        <p:blipFill>
          <a:blip r:embed="rId3"/>
          <a:stretch>
            <a:fillRect/>
          </a:stretch>
        </p:blipFill>
        <p:spPr>
          <a:xfrm>
            <a:off x="7601152" y="1015595"/>
            <a:ext cx="4121536" cy="1703917"/>
          </a:xfrm>
          <a:prstGeom prst="rect">
            <a:avLst/>
          </a:prstGeom>
        </p:spPr>
      </p:pic>
      <p:pic>
        <p:nvPicPr>
          <p:cNvPr id="7" name="Immagine 6">
            <a:extLst>
              <a:ext uri="{FF2B5EF4-FFF2-40B4-BE49-F238E27FC236}">
                <a16:creationId xmlns:a16="http://schemas.microsoft.com/office/drawing/2014/main" id="{141F91E4-2519-A507-9AEB-319AF5F7E3B9}"/>
              </a:ext>
            </a:extLst>
          </p:cNvPr>
          <p:cNvPicPr>
            <a:picLocks noChangeAspect="1"/>
          </p:cNvPicPr>
          <p:nvPr/>
        </p:nvPicPr>
        <p:blipFill>
          <a:blip r:embed="rId4"/>
          <a:stretch>
            <a:fillRect/>
          </a:stretch>
        </p:blipFill>
        <p:spPr>
          <a:xfrm>
            <a:off x="7601152" y="2943550"/>
            <a:ext cx="4126335" cy="1576395"/>
          </a:xfrm>
          <a:prstGeom prst="rect">
            <a:avLst/>
          </a:prstGeom>
        </p:spPr>
      </p:pic>
      <p:pic>
        <p:nvPicPr>
          <p:cNvPr id="9" name="Immagine 8">
            <a:extLst>
              <a:ext uri="{FF2B5EF4-FFF2-40B4-BE49-F238E27FC236}">
                <a16:creationId xmlns:a16="http://schemas.microsoft.com/office/drawing/2014/main" id="{8473362F-410C-1A0E-1615-E77C6440CA95}"/>
              </a:ext>
            </a:extLst>
          </p:cNvPr>
          <p:cNvPicPr>
            <a:picLocks noChangeAspect="1"/>
          </p:cNvPicPr>
          <p:nvPr/>
        </p:nvPicPr>
        <p:blipFill>
          <a:blip r:embed="rId5"/>
          <a:stretch>
            <a:fillRect/>
          </a:stretch>
        </p:blipFill>
        <p:spPr>
          <a:xfrm>
            <a:off x="7601152" y="4743983"/>
            <a:ext cx="1942334" cy="1769109"/>
          </a:xfrm>
          <a:prstGeom prst="rect">
            <a:avLst/>
          </a:prstGeom>
        </p:spPr>
      </p:pic>
    </p:spTree>
    <p:extLst>
      <p:ext uri="{BB962C8B-B14F-4D97-AF65-F5344CB8AC3E}">
        <p14:creationId xmlns:p14="http://schemas.microsoft.com/office/powerpoint/2010/main" val="274894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11AAC-7160-ACB6-740B-2226B5C69CA1}"/>
            </a:ext>
          </a:extLst>
        </p:cNvPr>
        <p:cNvGrpSpPr/>
        <p:nvPr/>
      </p:nvGrpSpPr>
      <p:grpSpPr>
        <a:xfrm>
          <a:off x="0" y="0"/>
          <a:ext cx="0" cy="0"/>
          <a:chOff x="0" y="0"/>
          <a:chExt cx="0" cy="0"/>
        </a:xfrm>
      </p:grpSpPr>
      <p:sp>
        <p:nvSpPr>
          <p:cNvPr id="2" name="Segnaposto data 1">
            <a:extLst>
              <a:ext uri="{FF2B5EF4-FFF2-40B4-BE49-F238E27FC236}">
                <a16:creationId xmlns:a16="http://schemas.microsoft.com/office/drawing/2014/main" id="{EB9806F4-4E96-4F05-00D3-1C26F02F02AF}"/>
              </a:ext>
            </a:extLst>
          </p:cNvPr>
          <p:cNvSpPr>
            <a:spLocks noGrp="1"/>
          </p:cNvSpPr>
          <p:nvPr>
            <p:ph type="dt" sz="half" idx="10"/>
          </p:nvPr>
        </p:nvSpPr>
        <p:spPr/>
        <p:txBody>
          <a:bodyPr/>
          <a:lstStyle/>
          <a:p>
            <a:pPr rtl="0"/>
            <a:r>
              <a:rPr lang="en-US" dirty="0"/>
              <a:t>18/03/2026</a:t>
            </a:r>
          </a:p>
        </p:txBody>
      </p:sp>
      <p:sp>
        <p:nvSpPr>
          <p:cNvPr id="4" name="Titolo 1">
            <a:extLst>
              <a:ext uri="{FF2B5EF4-FFF2-40B4-BE49-F238E27FC236}">
                <a16:creationId xmlns:a16="http://schemas.microsoft.com/office/drawing/2014/main" id="{56C6F63D-E88B-B9ED-130E-130586CF6808}"/>
              </a:ext>
            </a:extLst>
          </p:cNvPr>
          <p:cNvSpPr txBox="1">
            <a:spLocks/>
          </p:cNvSpPr>
          <p:nvPr/>
        </p:nvSpPr>
        <p:spPr>
          <a:xfrm>
            <a:off x="448465" y="816978"/>
            <a:ext cx="6756076" cy="540061"/>
          </a:xfrm>
          <a:prstGeom prst="rect">
            <a:avLst/>
          </a:prstGeom>
        </p:spPr>
        <p:txBody>
          <a:bodyPr lIns="91440" tIns="45720" rIns="91440" bIns="45720" anchor="t"/>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b="1" dirty="0"/>
              <a:t>Fase 4 -report designer (</a:t>
            </a:r>
            <a:r>
              <a:rPr lang="it-IT" b="1" dirty="0" err="1"/>
              <a:t>customer</a:t>
            </a:r>
            <a:r>
              <a:rPr lang="it-IT" b="1" dirty="0"/>
              <a:t>)</a:t>
            </a:r>
            <a:br>
              <a:rPr lang="it-IT" dirty="0"/>
            </a:br>
            <a:endParaRPr lang="it-IT" dirty="0"/>
          </a:p>
        </p:txBody>
      </p:sp>
      <p:sp>
        <p:nvSpPr>
          <p:cNvPr id="5" name="Rettangolo 4"/>
          <p:cNvSpPr/>
          <p:nvPr/>
        </p:nvSpPr>
        <p:spPr>
          <a:xfrm>
            <a:off x="448465" y="1361880"/>
            <a:ext cx="10835398" cy="923330"/>
          </a:xfrm>
          <a:prstGeom prst="rect">
            <a:avLst/>
          </a:prstGeom>
        </p:spPr>
        <p:txBody>
          <a:bodyPr wrap="square" lIns="91440" tIns="45720" rIns="91440" bIns="45720" anchor="t">
            <a:spAutoFit/>
          </a:bodyPr>
          <a:lstStyle/>
          <a:p>
            <a:r>
              <a:rPr lang="it-IT" dirty="0"/>
              <a:t>In questa fase analizziamo i dati relativi ai prodotti, alle vendite, ai ricavi e ai profitti dal punto di vista del </a:t>
            </a:r>
            <a:r>
              <a:rPr lang="it-IT"/>
              <a:t>comportamento dei clienti, osservando 4 continenti </a:t>
            </a:r>
            <a:r>
              <a:rPr lang="it-IT" err="1"/>
              <a:t>(Asia,</a:t>
            </a:r>
            <a:r>
              <a:rPr lang="it-IT"/>
              <a:t> Europa, Nord e Sud </a:t>
            </a:r>
            <a:r>
              <a:rPr lang="it-IT" dirty="0"/>
              <a:t>America), tramite grafici ed una mappa globale interattiva.</a:t>
            </a:r>
          </a:p>
        </p:txBody>
      </p:sp>
      <p:pic>
        <p:nvPicPr>
          <p:cNvPr id="7" name="Immagine 6" descr="Screenshot 2026-03-18 114915.png"/>
          <p:cNvPicPr>
            <a:picLocks noChangeAspect="1"/>
          </p:cNvPicPr>
          <p:nvPr/>
        </p:nvPicPr>
        <p:blipFill>
          <a:blip r:embed="rId2"/>
          <a:stretch>
            <a:fillRect/>
          </a:stretch>
        </p:blipFill>
        <p:spPr>
          <a:xfrm>
            <a:off x="5907972" y="2458193"/>
            <a:ext cx="5606513" cy="1995053"/>
          </a:xfrm>
          <a:prstGeom prst="rect">
            <a:avLst/>
          </a:prstGeom>
          <a:ln>
            <a:noFill/>
          </a:ln>
          <a:effectLst>
            <a:outerShdw blurRad="190500" algn="tl" rotWithShape="0">
              <a:srgbClr val="000000">
                <a:alpha val="70000"/>
              </a:srgbClr>
            </a:outerShdw>
          </a:effectLst>
        </p:spPr>
      </p:pic>
      <p:pic>
        <p:nvPicPr>
          <p:cNvPr id="8" name="Immagine 7" descr="Screenshot 2026-03-18 121719.png"/>
          <p:cNvPicPr>
            <a:picLocks noChangeAspect="1"/>
          </p:cNvPicPr>
          <p:nvPr/>
        </p:nvPicPr>
        <p:blipFill>
          <a:blip r:embed="rId3"/>
          <a:stretch>
            <a:fillRect/>
          </a:stretch>
        </p:blipFill>
        <p:spPr>
          <a:xfrm>
            <a:off x="2737261" y="4631377"/>
            <a:ext cx="6187045" cy="2137558"/>
          </a:xfrm>
          <a:prstGeom prst="rect">
            <a:avLst/>
          </a:prstGeom>
          <a:ln>
            <a:noFill/>
          </a:ln>
          <a:effectLst>
            <a:outerShdw blurRad="190500" algn="tl" rotWithShape="0">
              <a:srgbClr val="000000">
                <a:alpha val="70000"/>
              </a:srgbClr>
            </a:outerShdw>
          </a:effectLst>
        </p:spPr>
      </p:pic>
      <p:pic>
        <p:nvPicPr>
          <p:cNvPr id="9" name="Immagine 8" descr="Screenshot 2026-03-18 221207.png"/>
          <p:cNvPicPr>
            <a:picLocks noChangeAspect="1"/>
          </p:cNvPicPr>
          <p:nvPr/>
        </p:nvPicPr>
        <p:blipFill>
          <a:blip r:embed="rId4"/>
          <a:stretch>
            <a:fillRect/>
          </a:stretch>
        </p:blipFill>
        <p:spPr>
          <a:xfrm>
            <a:off x="232966" y="2481110"/>
            <a:ext cx="5369917" cy="197398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99017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4" name="CasellaDiTesto 3"/>
          <p:cNvSpPr txBox="1"/>
          <p:nvPr/>
        </p:nvSpPr>
        <p:spPr>
          <a:xfrm>
            <a:off x="384398" y="599892"/>
            <a:ext cx="11298954" cy="2185214"/>
          </a:xfrm>
          <a:prstGeom prst="rect">
            <a:avLst/>
          </a:prstGeom>
          <a:noFill/>
        </p:spPr>
        <p:txBody>
          <a:bodyPr wrap="square" lIns="91440" tIns="45720" rIns="91440" bIns="45720" rtlCol="0" anchor="t">
            <a:spAutoFit/>
          </a:bodyPr>
          <a:lstStyle/>
          <a:p>
            <a:r>
              <a:rPr lang="it-IT" b="1">
                <a:solidFill>
                  <a:schemeClr val="tx1">
                    <a:lumMod val="75000"/>
                    <a:lumOff val="25000"/>
                  </a:schemeClr>
                </a:solidFill>
              </a:rPr>
              <a:t>CUSTOMER ANALYSIS</a:t>
            </a:r>
            <a:r>
              <a:rPr lang="it-IT" sz="2800" dirty="0"/>
              <a:t> </a:t>
            </a:r>
          </a:p>
          <a:p>
            <a:pPr algn="just"/>
            <a:r>
              <a:rPr lang="it-IT" sz="1600" dirty="0"/>
              <a:t>In questo report abbiamo creato uno </a:t>
            </a:r>
            <a:r>
              <a:rPr lang="it-IT" sz="1600" dirty="0" err="1"/>
              <a:t>slicer</a:t>
            </a:r>
            <a:r>
              <a:rPr lang="it-IT" sz="1600" dirty="0"/>
              <a:t> con i continenti analizzati. </a:t>
            </a:r>
          </a:p>
          <a:p>
            <a:pPr algn="just"/>
            <a:r>
              <a:rPr lang="it-IT" sz="1600" dirty="0"/>
              <a:t>Nel primo grafico interattivo a colonna analizziamo le vendite totali e quelle per categoria con i margini di profitto sui territori.</a:t>
            </a:r>
          </a:p>
          <a:p>
            <a:pPr algn="just"/>
            <a:r>
              <a:rPr lang="it-IT" sz="1600" dirty="0"/>
              <a:t>Nel secondo grafico interattivo a barre evidenziamo le vendite con i ricavi dei singoli prodotti sia su scala globale sia sul singolo      continente.</a:t>
            </a:r>
          </a:p>
          <a:p>
            <a:r>
              <a:rPr lang="it-IT" sz="1600" dirty="0"/>
              <a:t>  </a:t>
            </a:r>
          </a:p>
          <a:p>
            <a:endParaRPr lang="it-IT" sz="2800" dirty="0"/>
          </a:p>
        </p:txBody>
      </p:sp>
      <p:pic>
        <p:nvPicPr>
          <p:cNvPr id="5" name="Immagine 4" descr="Screenshot 2026-03-18 221333.png"/>
          <p:cNvPicPr>
            <a:picLocks noChangeAspect="1"/>
          </p:cNvPicPr>
          <p:nvPr/>
        </p:nvPicPr>
        <p:blipFill>
          <a:blip r:embed="rId2"/>
          <a:stretch>
            <a:fillRect/>
          </a:stretch>
        </p:blipFill>
        <p:spPr>
          <a:xfrm>
            <a:off x="2071250" y="2069480"/>
            <a:ext cx="8045529" cy="43112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4" name="CasellaDiTesto 3"/>
          <p:cNvSpPr txBox="1"/>
          <p:nvPr/>
        </p:nvSpPr>
        <p:spPr>
          <a:xfrm>
            <a:off x="260879" y="856156"/>
            <a:ext cx="11449919" cy="1600438"/>
          </a:xfrm>
          <a:prstGeom prst="rect">
            <a:avLst/>
          </a:prstGeom>
          <a:noFill/>
        </p:spPr>
        <p:txBody>
          <a:bodyPr wrap="square" lIns="91440" tIns="45720" rIns="91440" bIns="45720" rtlCol="0" anchor="t">
            <a:spAutoFit/>
          </a:bodyPr>
          <a:lstStyle/>
          <a:p>
            <a:r>
              <a:rPr lang="it-IT" b="1">
                <a:solidFill>
                  <a:schemeClr val="tx1">
                    <a:lumMod val="75000"/>
                    <a:lumOff val="25000"/>
                  </a:schemeClr>
                </a:solidFill>
              </a:rPr>
              <a:t>CUSTOMER REPORT </a:t>
            </a:r>
          </a:p>
          <a:p>
            <a:r>
              <a:rPr lang="it-IT" sz="1600" dirty="0"/>
              <a:t>Qui abbiamo creato in alto uno </a:t>
            </a:r>
            <a:r>
              <a:rPr lang="it-IT" sz="1600" dirty="0" err="1"/>
              <a:t>slicer</a:t>
            </a:r>
            <a:r>
              <a:rPr lang="it-IT" sz="1600" dirty="0"/>
              <a:t> con i continenti in posizione orizzontale. </a:t>
            </a:r>
          </a:p>
          <a:p>
            <a:r>
              <a:rPr lang="it-IT" sz="1600" dirty="0"/>
              <a:t>Abbiamo inoltre collocato delle </a:t>
            </a:r>
            <a:r>
              <a:rPr lang="it-IT" sz="1600" err="1"/>
              <a:t>cards</a:t>
            </a:r>
            <a:r>
              <a:rPr lang="it-IT" sz="1600" dirty="0"/>
              <a:t> a colori con le cifre e le percentuali dei diversi dati analizzati.</a:t>
            </a:r>
          </a:p>
          <a:p>
            <a:r>
              <a:rPr lang="it-IT" sz="1600" dirty="0"/>
              <a:t>Sotto abbiamo realizzato una mappa geografica dove si evincono con bolle colorate i continenti osservati. </a:t>
            </a:r>
          </a:p>
          <a:p>
            <a:r>
              <a:rPr lang="it-IT" sz="1600" dirty="0"/>
              <a:t>Lo </a:t>
            </a:r>
            <a:r>
              <a:rPr lang="it-IT" sz="1600" dirty="0" err="1"/>
              <a:t>slicer</a:t>
            </a:r>
            <a:r>
              <a:rPr lang="it-IT" sz="1600" dirty="0"/>
              <a:t>, le </a:t>
            </a:r>
            <a:r>
              <a:rPr lang="it-IT" sz="1600" dirty="0" err="1"/>
              <a:t>cards</a:t>
            </a:r>
            <a:r>
              <a:rPr lang="it-IT" sz="1600" dirty="0"/>
              <a:t> e la mappa geografica sono interattive.</a:t>
            </a:r>
          </a:p>
          <a:p>
            <a:endParaRPr lang="it-IT" sz="1600" dirty="0"/>
          </a:p>
        </p:txBody>
      </p:sp>
      <p:pic>
        <p:nvPicPr>
          <p:cNvPr id="5" name="Immagine 4" descr="Screenshot 2026-03-19 125032.png"/>
          <p:cNvPicPr>
            <a:picLocks noChangeAspect="1"/>
          </p:cNvPicPr>
          <p:nvPr/>
        </p:nvPicPr>
        <p:blipFill>
          <a:blip r:embed="rId2"/>
          <a:stretch>
            <a:fillRect/>
          </a:stretch>
        </p:blipFill>
        <p:spPr>
          <a:xfrm>
            <a:off x="256492" y="2356222"/>
            <a:ext cx="6327957" cy="3917231"/>
          </a:xfrm>
          <a:prstGeom prst="rect">
            <a:avLst/>
          </a:prstGeom>
        </p:spPr>
      </p:pic>
      <p:pic>
        <p:nvPicPr>
          <p:cNvPr id="3" name="Immagine 2" descr="Immagine che contiene testo, schermata, Carattere, numero&#10;&#10;Il contenuto generato dall&amp;#39;IA potrebbe non essere corretto.">
            <a:extLst>
              <a:ext uri="{FF2B5EF4-FFF2-40B4-BE49-F238E27FC236}">
                <a16:creationId xmlns:a16="http://schemas.microsoft.com/office/drawing/2014/main" id="{FCF0E91A-BB0E-FD89-F92F-114298E21838}"/>
              </a:ext>
            </a:extLst>
          </p:cNvPr>
          <p:cNvPicPr>
            <a:picLocks noChangeAspect="1"/>
          </p:cNvPicPr>
          <p:nvPr/>
        </p:nvPicPr>
        <p:blipFill>
          <a:blip r:embed="rId3"/>
          <a:stretch>
            <a:fillRect/>
          </a:stretch>
        </p:blipFill>
        <p:spPr>
          <a:xfrm>
            <a:off x="6949466" y="2829448"/>
            <a:ext cx="4503889" cy="3443352"/>
          </a:xfrm>
          <a:prstGeom prst="rect">
            <a:avLst/>
          </a:prstGeom>
        </p:spPr>
      </p:pic>
      <p:sp>
        <p:nvSpPr>
          <p:cNvPr id="6" name="CasellaDiTesto 5">
            <a:extLst>
              <a:ext uri="{FF2B5EF4-FFF2-40B4-BE49-F238E27FC236}">
                <a16:creationId xmlns:a16="http://schemas.microsoft.com/office/drawing/2014/main" id="{8B20A650-D858-2E61-A427-841D9E247EFE}"/>
              </a:ext>
            </a:extLst>
          </p:cNvPr>
          <p:cNvSpPr txBox="1"/>
          <p:nvPr/>
        </p:nvSpPr>
        <p:spPr>
          <a:xfrm>
            <a:off x="6948265" y="2449661"/>
            <a:ext cx="4424289" cy="369332"/>
          </a:xfrm>
          <a:prstGeom prst="rect">
            <a:avLst/>
          </a:prstGeom>
          <a:solidFill>
            <a:schemeClr val="accent4">
              <a:lumMod val="20000"/>
              <a:lumOff val="80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it-IT"/>
              <a:t>TOOLTIP REGION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3" name="Titolo 1">
            <a:extLst>
              <a:ext uri="{FF2B5EF4-FFF2-40B4-BE49-F238E27FC236}">
                <a16:creationId xmlns:a16="http://schemas.microsoft.com/office/drawing/2014/main" id="{044DAAFD-2627-758E-6E99-58AA64E29521}"/>
              </a:ext>
            </a:extLst>
          </p:cNvPr>
          <p:cNvSpPr txBox="1">
            <a:spLocks/>
          </p:cNvSpPr>
          <p:nvPr/>
        </p:nvSpPr>
        <p:spPr>
          <a:xfrm>
            <a:off x="487247" y="816978"/>
            <a:ext cx="11029616" cy="675272"/>
          </a:xfrm>
          <a:prstGeom prst="rect">
            <a:avLst/>
          </a:prstGeom>
        </p:spPr>
        <p:txBody>
          <a:bodyPr lIns="91440" tIns="45720" rIns="91440" bIns="45720" anchor="t"/>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b="1"/>
              <a:t>Fase 5 - </a:t>
            </a:r>
            <a:r>
              <a:rPr lang="en-US" b="1"/>
              <a:t>REPORT DESIGNER (User Interactions)</a:t>
            </a:r>
            <a:r>
              <a:rPr lang="en-US"/>
              <a:t> </a:t>
            </a:r>
          </a:p>
          <a:p>
            <a:br>
              <a:rPr lang="it-IT"/>
            </a:br>
            <a:endParaRPr lang="it-IT" dirty="0"/>
          </a:p>
        </p:txBody>
      </p:sp>
      <p:sp>
        <p:nvSpPr>
          <p:cNvPr id="4" name="Segnaposto contenuto 2">
            <a:extLst>
              <a:ext uri="{FF2B5EF4-FFF2-40B4-BE49-F238E27FC236}">
                <a16:creationId xmlns:a16="http://schemas.microsoft.com/office/drawing/2014/main" id="{6224D631-3302-E2DF-AB35-C0717045EC64}"/>
              </a:ext>
            </a:extLst>
          </p:cNvPr>
          <p:cNvSpPr txBox="1">
            <a:spLocks/>
          </p:cNvSpPr>
          <p:nvPr/>
        </p:nvSpPr>
        <p:spPr>
          <a:xfrm>
            <a:off x="487247" y="1747115"/>
            <a:ext cx="11143921" cy="3839869"/>
          </a:xfrm>
          <a:prstGeom prst="rect">
            <a:avLst/>
          </a:prstGeom>
        </p:spPr>
        <p:txBody>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it-IT" dirty="0"/>
          </a:p>
        </p:txBody>
      </p:sp>
      <p:sp>
        <p:nvSpPr>
          <p:cNvPr id="7" name="Segnaposto contenuto 2">
            <a:extLst>
              <a:ext uri="{FF2B5EF4-FFF2-40B4-BE49-F238E27FC236}">
                <a16:creationId xmlns:a16="http://schemas.microsoft.com/office/drawing/2014/main" id="{66BDB5BD-1961-A536-A0DE-37081672A9E8}"/>
              </a:ext>
            </a:extLst>
          </p:cNvPr>
          <p:cNvSpPr txBox="1">
            <a:spLocks/>
          </p:cNvSpPr>
          <p:nvPr/>
        </p:nvSpPr>
        <p:spPr>
          <a:xfrm>
            <a:off x="487247" y="2095772"/>
            <a:ext cx="11029616" cy="4100698"/>
          </a:xfrm>
          <a:prstGeom prst="rect">
            <a:avLst/>
          </a:prstGeom>
        </p:spPr>
        <p:txBody>
          <a:bodyPr lIns="91440" tIns="45720" rIns="91440" bIns="45720" anchor="t"/>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it-IT" dirty="0"/>
              <a:t>In questa fase sono state implementate funzionalità avanzate di interazione utente attraverso:</a:t>
            </a:r>
          </a:p>
          <a:p>
            <a:pPr marL="305435" indent="-305435"/>
            <a:r>
              <a:rPr lang="it-IT" b="1" err="1"/>
              <a:t>Drillthrough</a:t>
            </a:r>
            <a:r>
              <a:rPr lang="it-IT" b="1" dirty="0"/>
              <a:t> </a:t>
            </a:r>
            <a:r>
              <a:rPr lang="it-IT"/>
              <a:t>per accedere a pagine di dettaglio contestuale, due per </a:t>
            </a:r>
            <a:r>
              <a:rPr lang="it-IT" b="1"/>
              <a:t>Products </a:t>
            </a:r>
            <a:r>
              <a:rPr lang="it-IT"/>
              <a:t>e una per </a:t>
            </a:r>
            <a:r>
              <a:rPr lang="it-IT" b="1"/>
              <a:t>Customer</a:t>
            </a:r>
          </a:p>
          <a:p>
            <a:pPr marL="305435" indent="-305435"/>
            <a:r>
              <a:rPr lang="it-IT" b="1" dirty="0"/>
              <a:t>Bookmarks</a:t>
            </a:r>
            <a:r>
              <a:rPr lang="it-IT" dirty="0"/>
              <a:t>, per memorizzare viste specifiche del report e abilitarne l’uso come elementi interattivi</a:t>
            </a:r>
          </a:p>
          <a:p>
            <a:pPr marL="305435" indent="-305435"/>
            <a:r>
              <a:rPr lang="it-IT" b="1" dirty="0"/>
              <a:t>Navigazione guidata</a:t>
            </a:r>
            <a:r>
              <a:rPr lang="it-IT" dirty="0"/>
              <a:t>, integrando pulsanti e selettori che migliorano l’esperienza di consultazione del report</a:t>
            </a:r>
          </a:p>
          <a:p>
            <a:pPr marL="0" indent="0">
              <a:buNone/>
            </a:pPr>
            <a:endParaRPr lang="it-IT" dirty="0"/>
          </a:p>
          <a:p>
            <a:pPr marL="0" indent="0">
              <a:buNone/>
            </a:pPr>
            <a:r>
              <a:rPr lang="it-IT" dirty="0"/>
              <a:t>Questi strumenti consentono all’utente finale di esplorare i dati in modo intuitivo, passando da visioni generali a informazioni specifiche con un semplice clic.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314A1CAD-5F5F-75B1-0386-FAFCE349FE50}"/>
              </a:ext>
            </a:extLst>
          </p:cNvPr>
          <p:cNvSpPr txBox="1">
            <a:spLocks/>
          </p:cNvSpPr>
          <p:nvPr/>
        </p:nvSpPr>
        <p:spPr>
          <a:xfrm>
            <a:off x="633171" y="375666"/>
            <a:ext cx="3031852" cy="17224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400" dirty="0">
                <a:solidFill>
                  <a:srgbClr val="FFFFFF"/>
                </a:solidFill>
              </a:rPr>
              <a:t>Bookmark</a:t>
            </a:r>
          </a:p>
          <a:p>
            <a:pPr>
              <a:spcAft>
                <a:spcPts val="600"/>
              </a:spcAft>
            </a:pPr>
            <a:br>
              <a:rPr lang="en-US" sz="2400" dirty="0">
                <a:solidFill>
                  <a:srgbClr val="FFFFFF"/>
                </a:solidFill>
              </a:rPr>
            </a:br>
            <a:endParaRPr lang="en-US" sz="2400" dirty="0">
              <a:solidFill>
                <a:srgbClr val="FFFFFF"/>
              </a:solidFill>
            </a:endParaRPr>
          </a:p>
        </p:txBody>
      </p:sp>
      <p:pic>
        <p:nvPicPr>
          <p:cNvPr id="6" name="Immagine 5">
            <a:extLst>
              <a:ext uri="{FF2B5EF4-FFF2-40B4-BE49-F238E27FC236}">
                <a16:creationId xmlns:a16="http://schemas.microsoft.com/office/drawing/2014/main" id="{B86153AC-7061-4976-EAA0-9794EF7A8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8786" y="1589315"/>
            <a:ext cx="7267414" cy="3862228"/>
          </a:xfrm>
          <a:prstGeom prst="rect">
            <a:avLst/>
          </a:prstGeom>
          <a:noFill/>
        </p:spPr>
      </p:pic>
      <p:sp>
        <p:nvSpPr>
          <p:cNvPr id="4" name="CasellaDiTesto 3">
            <a:extLst>
              <a:ext uri="{FF2B5EF4-FFF2-40B4-BE49-F238E27FC236}">
                <a16:creationId xmlns:a16="http://schemas.microsoft.com/office/drawing/2014/main" id="{FD6B8D47-7A52-0064-06E7-340DACCADBDA}"/>
              </a:ext>
            </a:extLst>
          </p:cNvPr>
          <p:cNvSpPr txBox="1"/>
          <p:nvPr/>
        </p:nvSpPr>
        <p:spPr>
          <a:xfrm>
            <a:off x="633171" y="1497886"/>
            <a:ext cx="3280461" cy="4810712"/>
          </a:xfrm>
          <a:prstGeom prst="rect">
            <a:avLst/>
          </a:prstGeom>
        </p:spPr>
        <p:txBody>
          <a:bodyPr vert="horz" lIns="91440" tIns="45720" rIns="91440" bIns="45720" rtlCol="0" anchor="t">
            <a:normAutofit/>
          </a:bodyPr>
          <a:lstStyle/>
          <a:p>
            <a:pPr defTabSz="457200">
              <a:lnSpc>
                <a:spcPct val="110000"/>
              </a:lnSpc>
              <a:spcBef>
                <a:spcPct val="20000"/>
              </a:spcBef>
              <a:spcAft>
                <a:spcPts val="600"/>
              </a:spcAft>
              <a:buClr>
                <a:schemeClr val="accent1"/>
              </a:buClr>
              <a:buSzPct val="92000"/>
            </a:pPr>
            <a:r>
              <a:rPr lang="it-IT" sz="1600" i="1" u="sng" kern="1200" dirty="0">
                <a:solidFill>
                  <a:srgbClr val="FFFFFF"/>
                </a:solidFill>
                <a:latin typeface="+mn-lt"/>
                <a:ea typeface="+mn-ea"/>
                <a:cs typeface="+mn-cs"/>
              </a:rPr>
              <a:t>Sales Product</a:t>
            </a: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Questo bookmark è stato progettato per fornire una vista di approfondimento focalizzata sulle performance dei singoli prodotti.</a:t>
            </a: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Include:</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Istogramma con la classifica dei prodotti per vendite totali</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Evidenza immediata del prodotto con maggior ricavo</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Insight sul contributo percentuale dei vari articoli</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Filtri mantenuti dal contesto (es.: continente, categoria, periodo)</a:t>
            </a:r>
          </a:p>
        </p:txBody>
      </p:sp>
      <p:sp>
        <p:nvSpPr>
          <p:cNvPr id="2" name="Segnaposto data 1">
            <a:extLst>
              <a:ext uri="{FF2B5EF4-FFF2-40B4-BE49-F238E27FC236}">
                <a16:creationId xmlns:a16="http://schemas.microsoft.com/office/drawing/2014/main" id="{495602E2-DC57-093A-B8F8-21F65FCF1FF0}"/>
              </a:ext>
            </a:extLst>
          </p:cNvPr>
          <p:cNvSpPr>
            <a:spLocks noGrp="1"/>
          </p:cNvSpPr>
          <p:nvPr>
            <p:ph type="dt" sz="half" idx="10"/>
          </p:nvPr>
        </p:nvSpPr>
        <p:spPr>
          <a:xfrm>
            <a:off x="7605951" y="6456916"/>
            <a:ext cx="2844799" cy="365125"/>
          </a:xfrm>
        </p:spPr>
        <p:txBody>
          <a:bodyPr vert="horz" lIns="91440" tIns="45720" rIns="91440" bIns="45720" rtlCol="0" anchor="ctr">
            <a:normAutofit/>
          </a:bodyPr>
          <a:lstStyle/>
          <a:p>
            <a:pPr>
              <a:spcAft>
                <a:spcPts val="600"/>
              </a:spcAft>
            </a:pPr>
            <a:fld id="{60ACBBB0-50A8-412C-AC83-6C1A96035CC9}" type="datetime1">
              <a:rPr lang="it-IT" smtClean="0"/>
              <a:pPr>
                <a:spcAft>
                  <a:spcPts val="600"/>
                </a:spcAft>
              </a:pPr>
              <a:t>21/03/2026</a:t>
            </a:fld>
            <a:endParaRPr lang="en-US"/>
          </a:p>
        </p:txBody>
      </p:sp>
    </p:spTree>
    <p:extLst>
      <p:ext uri="{BB962C8B-B14F-4D97-AF65-F5344CB8AC3E}">
        <p14:creationId xmlns:p14="http://schemas.microsoft.com/office/powerpoint/2010/main" val="901282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63D5-2EE4-73A3-5C76-10326A5E2357}"/>
            </a:ext>
          </a:extLst>
        </p:cNvPr>
        <p:cNvGrpSpPr/>
        <p:nvPr/>
      </p:nvGrpSpPr>
      <p:grpSpPr>
        <a:xfrm>
          <a:off x="0" y="0"/>
          <a:ext cx="0" cy="0"/>
          <a:chOff x="0" y="0"/>
          <a:chExt cx="0" cy="0"/>
        </a:xfrm>
      </p:grpSpPr>
      <p:sp>
        <p:nvSpPr>
          <p:cNvPr id="3" name="Titolo 1">
            <a:extLst>
              <a:ext uri="{FF2B5EF4-FFF2-40B4-BE49-F238E27FC236}">
                <a16:creationId xmlns:a16="http://schemas.microsoft.com/office/drawing/2014/main" id="{484B4CB4-D855-542E-0D27-68CCFEF6B785}"/>
              </a:ext>
            </a:extLst>
          </p:cNvPr>
          <p:cNvSpPr txBox="1">
            <a:spLocks/>
          </p:cNvSpPr>
          <p:nvPr/>
        </p:nvSpPr>
        <p:spPr>
          <a:xfrm>
            <a:off x="648985" y="238506"/>
            <a:ext cx="3031852" cy="17224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400" dirty="0">
                <a:solidFill>
                  <a:srgbClr val="FFFFFF"/>
                </a:solidFill>
              </a:rPr>
              <a:t>Bookmark</a:t>
            </a:r>
          </a:p>
          <a:p>
            <a:pPr>
              <a:spcAft>
                <a:spcPts val="600"/>
              </a:spcAft>
            </a:pPr>
            <a:br>
              <a:rPr lang="en-US" sz="2400" dirty="0">
                <a:solidFill>
                  <a:srgbClr val="FFFFFF"/>
                </a:solidFill>
              </a:rPr>
            </a:br>
            <a:endParaRPr lang="en-US" sz="2400" dirty="0">
              <a:solidFill>
                <a:srgbClr val="FFFFFF"/>
              </a:solidFill>
            </a:endParaRPr>
          </a:p>
        </p:txBody>
      </p:sp>
      <p:sp>
        <p:nvSpPr>
          <p:cNvPr id="4" name="CasellaDiTesto 3">
            <a:extLst>
              <a:ext uri="{FF2B5EF4-FFF2-40B4-BE49-F238E27FC236}">
                <a16:creationId xmlns:a16="http://schemas.microsoft.com/office/drawing/2014/main" id="{14205903-6ACB-131D-B117-9E97EBD13FC4}"/>
              </a:ext>
            </a:extLst>
          </p:cNvPr>
          <p:cNvSpPr txBox="1"/>
          <p:nvPr/>
        </p:nvSpPr>
        <p:spPr>
          <a:xfrm>
            <a:off x="648984" y="1410190"/>
            <a:ext cx="3246359" cy="4725434"/>
          </a:xfrm>
          <a:prstGeom prst="rect">
            <a:avLst/>
          </a:prstGeom>
        </p:spPr>
        <p:txBody>
          <a:bodyPr vert="horz" lIns="91440" tIns="45720" rIns="91440" bIns="45720" rtlCol="0" anchor="t">
            <a:normAutofit/>
          </a:bodyPr>
          <a:lstStyle/>
          <a:p>
            <a:pPr defTabSz="457200">
              <a:lnSpc>
                <a:spcPct val="110000"/>
              </a:lnSpc>
              <a:spcBef>
                <a:spcPct val="20000"/>
              </a:spcBef>
              <a:spcAft>
                <a:spcPts val="600"/>
              </a:spcAft>
              <a:buClr>
                <a:schemeClr val="accent1"/>
              </a:buClr>
              <a:buSzPct val="92000"/>
            </a:pPr>
            <a:r>
              <a:rPr lang="it-IT" sz="1600" i="1" u="sng" kern="1200" dirty="0">
                <a:solidFill>
                  <a:srgbClr val="FFFFFF"/>
                </a:solidFill>
                <a:latin typeface="+mn-lt"/>
                <a:ea typeface="+mn-ea"/>
                <a:cs typeface="+mn-cs"/>
              </a:rPr>
              <a:t>Profit </a:t>
            </a:r>
            <a:r>
              <a:rPr lang="it-IT" sz="1600" i="1" u="sng" kern="1200" dirty="0" err="1">
                <a:solidFill>
                  <a:srgbClr val="FFFFFF"/>
                </a:solidFill>
                <a:latin typeface="+mn-lt"/>
                <a:ea typeface="+mn-ea"/>
                <a:cs typeface="+mn-cs"/>
              </a:rPr>
              <a:t>Margin</a:t>
            </a:r>
            <a:endParaRPr lang="it-IT" sz="1600" i="1" u="sng" kern="1200" dirty="0">
              <a:solidFill>
                <a:srgbClr val="FFFFFF"/>
              </a:solidFill>
              <a:latin typeface="+mn-lt"/>
              <a:ea typeface="+mn-ea"/>
              <a:cs typeface="+mn-cs"/>
            </a:endParaRP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Questo bookmark mostra una vista specifica dedicata ai margini di profitto, con focus sulle categorie o prodotti che generano il maggior valore aggiunto.</a:t>
            </a: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Contiene:</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Grafico a barre dei margini per categoria/prodotto</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Confronto fra valori assoluti e incidenza percentuale</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Evidenza immediata delle categorie più profittevoli</a:t>
            </a:r>
          </a:p>
        </p:txBody>
      </p:sp>
      <p:sp>
        <p:nvSpPr>
          <p:cNvPr id="2" name="Segnaposto data 1">
            <a:extLst>
              <a:ext uri="{FF2B5EF4-FFF2-40B4-BE49-F238E27FC236}">
                <a16:creationId xmlns:a16="http://schemas.microsoft.com/office/drawing/2014/main" id="{98967775-2914-364B-6492-25867EB2CA2F}"/>
              </a:ext>
            </a:extLst>
          </p:cNvPr>
          <p:cNvSpPr>
            <a:spLocks noGrp="1"/>
          </p:cNvSpPr>
          <p:nvPr>
            <p:ph type="dt" sz="half" idx="10"/>
          </p:nvPr>
        </p:nvSpPr>
        <p:spPr>
          <a:xfrm>
            <a:off x="7605951" y="6456916"/>
            <a:ext cx="2844799" cy="365125"/>
          </a:xfrm>
        </p:spPr>
        <p:txBody>
          <a:bodyPr vert="horz" lIns="91440" tIns="45720" rIns="91440" bIns="45720" rtlCol="0" anchor="ctr">
            <a:normAutofit/>
          </a:bodyPr>
          <a:lstStyle/>
          <a:p>
            <a:pPr>
              <a:spcAft>
                <a:spcPts val="600"/>
              </a:spcAft>
            </a:pPr>
            <a:fld id="{60ACBBB0-50A8-412C-AC83-6C1A96035CC9}" type="datetime1">
              <a:rPr lang="it-IT" smtClean="0"/>
              <a:pPr>
                <a:spcAft>
                  <a:spcPts val="600"/>
                </a:spcAft>
              </a:pPr>
              <a:t>21/03/2026</a:t>
            </a:fld>
            <a:endParaRPr lang="en-US"/>
          </a:p>
        </p:txBody>
      </p:sp>
      <p:pic>
        <p:nvPicPr>
          <p:cNvPr id="7" name="Immagine 6">
            <a:extLst>
              <a:ext uri="{FF2B5EF4-FFF2-40B4-BE49-F238E27FC236}">
                <a16:creationId xmlns:a16="http://schemas.microsoft.com/office/drawing/2014/main" id="{E8BBD74C-1EBE-1061-9756-7E98207F1A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2782" y="1723596"/>
            <a:ext cx="7805481" cy="3862228"/>
          </a:xfrm>
          <a:prstGeom prst="rect">
            <a:avLst/>
          </a:prstGeom>
        </p:spPr>
      </p:pic>
    </p:spTree>
    <p:extLst>
      <p:ext uri="{BB962C8B-B14F-4D97-AF65-F5344CB8AC3E}">
        <p14:creationId xmlns:p14="http://schemas.microsoft.com/office/powerpoint/2010/main" val="1754775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887D-9FC0-F72E-14DF-095BCDA69D33}"/>
            </a:ext>
          </a:extLst>
        </p:cNvPr>
        <p:cNvGrpSpPr/>
        <p:nvPr/>
      </p:nvGrpSpPr>
      <p:grpSpPr>
        <a:xfrm>
          <a:off x="0" y="0"/>
          <a:ext cx="0" cy="0"/>
          <a:chOff x="0" y="0"/>
          <a:chExt cx="0" cy="0"/>
        </a:xfrm>
      </p:grpSpPr>
      <p:sp>
        <p:nvSpPr>
          <p:cNvPr id="3" name="Titolo 1">
            <a:extLst>
              <a:ext uri="{FF2B5EF4-FFF2-40B4-BE49-F238E27FC236}">
                <a16:creationId xmlns:a16="http://schemas.microsoft.com/office/drawing/2014/main" id="{248CDC6A-F6A6-78E6-7E1F-070440ABC069}"/>
              </a:ext>
            </a:extLst>
          </p:cNvPr>
          <p:cNvSpPr txBox="1">
            <a:spLocks/>
          </p:cNvSpPr>
          <p:nvPr/>
        </p:nvSpPr>
        <p:spPr>
          <a:xfrm>
            <a:off x="685561" y="323899"/>
            <a:ext cx="3031852" cy="17224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400" dirty="0">
                <a:solidFill>
                  <a:srgbClr val="FFFFFF"/>
                </a:solidFill>
              </a:rPr>
              <a:t>Bookmark</a:t>
            </a:r>
          </a:p>
          <a:p>
            <a:pPr>
              <a:spcAft>
                <a:spcPts val="600"/>
              </a:spcAft>
            </a:pPr>
            <a:br>
              <a:rPr lang="en-US" sz="2400" dirty="0">
                <a:solidFill>
                  <a:srgbClr val="FFFFFF"/>
                </a:solidFill>
              </a:rPr>
            </a:br>
            <a:endParaRPr lang="en-US" sz="2400" dirty="0">
              <a:solidFill>
                <a:srgbClr val="FFFFFF"/>
              </a:solidFill>
            </a:endParaRPr>
          </a:p>
        </p:txBody>
      </p:sp>
      <p:sp>
        <p:nvSpPr>
          <p:cNvPr id="4" name="CasellaDiTesto 3">
            <a:extLst>
              <a:ext uri="{FF2B5EF4-FFF2-40B4-BE49-F238E27FC236}">
                <a16:creationId xmlns:a16="http://schemas.microsoft.com/office/drawing/2014/main" id="{292C583F-1E3D-66B4-422F-1A63ECA1A744}"/>
              </a:ext>
            </a:extLst>
          </p:cNvPr>
          <p:cNvSpPr txBox="1"/>
          <p:nvPr/>
        </p:nvSpPr>
        <p:spPr>
          <a:xfrm>
            <a:off x="685560" y="1373614"/>
            <a:ext cx="3292079" cy="4871738"/>
          </a:xfrm>
          <a:prstGeom prst="rect">
            <a:avLst/>
          </a:prstGeom>
        </p:spPr>
        <p:txBody>
          <a:bodyPr vert="horz" lIns="91440" tIns="45720" rIns="91440" bIns="45720" rtlCol="0" anchor="t">
            <a:normAutofit/>
          </a:bodyPr>
          <a:lstStyle/>
          <a:p>
            <a:pPr defTabSz="457200">
              <a:lnSpc>
                <a:spcPct val="110000"/>
              </a:lnSpc>
              <a:spcBef>
                <a:spcPct val="20000"/>
              </a:spcBef>
              <a:spcAft>
                <a:spcPts val="600"/>
              </a:spcAft>
              <a:buClr>
                <a:schemeClr val="accent1"/>
              </a:buClr>
              <a:buSzPct val="92000"/>
            </a:pPr>
            <a:r>
              <a:rPr lang="it-IT" sz="1600" i="1" u="sng" kern="1200" dirty="0">
                <a:solidFill>
                  <a:srgbClr val="FFFFFF"/>
                </a:solidFill>
                <a:latin typeface="+mn-lt"/>
                <a:ea typeface="+mn-ea"/>
                <a:cs typeface="+mn-cs"/>
              </a:rPr>
              <a:t>Total Cost</a:t>
            </a: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Questo bookmark si concentra sull’analisi dei costi totali, con una visualizzazione che consente di confrontare l’incidenza dei costi tra le varie categorie.</a:t>
            </a:r>
          </a:p>
          <a:p>
            <a:pPr defTabSz="457200">
              <a:lnSpc>
                <a:spcPct val="110000"/>
              </a:lnSpc>
              <a:spcBef>
                <a:spcPct val="20000"/>
              </a:spcBef>
              <a:spcAft>
                <a:spcPts val="600"/>
              </a:spcAft>
              <a:buClr>
                <a:schemeClr val="accent1"/>
              </a:buClr>
              <a:buSzPct val="92000"/>
            </a:pPr>
            <a:r>
              <a:rPr lang="it-IT" sz="1600" kern="1200" dirty="0">
                <a:solidFill>
                  <a:srgbClr val="FFFFFF"/>
                </a:solidFill>
                <a:latin typeface="+mn-lt"/>
                <a:ea typeface="+mn-ea"/>
                <a:cs typeface="+mn-cs"/>
              </a:rPr>
              <a:t>Include:</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err="1">
                <a:solidFill>
                  <a:srgbClr val="FFFFFF"/>
                </a:solidFill>
                <a:latin typeface="+mn-lt"/>
                <a:ea typeface="+mn-ea"/>
                <a:cs typeface="+mn-cs"/>
              </a:rPr>
              <a:t>Treemap</a:t>
            </a:r>
            <a:r>
              <a:rPr lang="it-IT" sz="1600" kern="1200" dirty="0">
                <a:solidFill>
                  <a:srgbClr val="FFFFFF"/>
                </a:solidFill>
                <a:latin typeface="+mn-lt"/>
                <a:ea typeface="+mn-ea"/>
                <a:cs typeface="+mn-cs"/>
              </a:rPr>
              <a:t> per evidenziare l’incidenza dei costi per categoria</a:t>
            </a:r>
          </a:p>
          <a:p>
            <a:pPr marL="285750" indent="-285750" defTabSz="457200">
              <a:lnSpc>
                <a:spcPct val="110000"/>
              </a:lnSpc>
              <a:spcBef>
                <a:spcPct val="20000"/>
              </a:spcBef>
              <a:spcAft>
                <a:spcPts val="600"/>
              </a:spcAft>
              <a:buClr>
                <a:schemeClr val="accent1"/>
              </a:buClr>
              <a:buSzPct val="92000"/>
              <a:buFont typeface="Arial" panose="020B0604020202020204" pitchFamily="34" charset="0"/>
              <a:buChar char="•"/>
            </a:pPr>
            <a:r>
              <a:rPr lang="it-IT" sz="1600" kern="1200" dirty="0">
                <a:solidFill>
                  <a:srgbClr val="FFFFFF"/>
                </a:solidFill>
                <a:latin typeface="+mn-lt"/>
                <a:ea typeface="+mn-ea"/>
                <a:cs typeface="+mn-cs"/>
              </a:rPr>
              <a:t>Possibilità di identificare categorie con costi elevati ma margini bassi</a:t>
            </a:r>
          </a:p>
        </p:txBody>
      </p:sp>
      <p:sp>
        <p:nvSpPr>
          <p:cNvPr id="2" name="Segnaposto data 1">
            <a:extLst>
              <a:ext uri="{FF2B5EF4-FFF2-40B4-BE49-F238E27FC236}">
                <a16:creationId xmlns:a16="http://schemas.microsoft.com/office/drawing/2014/main" id="{D6F46EC2-8779-9A6B-CD91-DE86DC58588D}"/>
              </a:ext>
            </a:extLst>
          </p:cNvPr>
          <p:cNvSpPr>
            <a:spLocks noGrp="1"/>
          </p:cNvSpPr>
          <p:nvPr>
            <p:ph type="dt" sz="half" idx="10"/>
          </p:nvPr>
        </p:nvSpPr>
        <p:spPr>
          <a:xfrm>
            <a:off x="7605951" y="6456916"/>
            <a:ext cx="2844799" cy="365125"/>
          </a:xfrm>
        </p:spPr>
        <p:txBody>
          <a:bodyPr vert="horz" lIns="91440" tIns="45720" rIns="91440" bIns="45720" rtlCol="0" anchor="ctr">
            <a:normAutofit/>
          </a:bodyPr>
          <a:lstStyle/>
          <a:p>
            <a:pPr>
              <a:spcAft>
                <a:spcPts val="600"/>
              </a:spcAft>
            </a:pPr>
            <a:fld id="{60ACBBB0-50A8-412C-AC83-6C1A96035CC9}" type="datetime1">
              <a:rPr lang="it-IT" smtClean="0"/>
              <a:pPr>
                <a:spcAft>
                  <a:spcPts val="600"/>
                </a:spcAft>
              </a:pPr>
              <a:t>21/03/2026</a:t>
            </a:fld>
            <a:endParaRPr lang="en-US"/>
          </a:p>
        </p:txBody>
      </p:sp>
      <p:pic>
        <p:nvPicPr>
          <p:cNvPr id="6" name="Immagine 5">
            <a:extLst>
              <a:ext uri="{FF2B5EF4-FFF2-40B4-BE49-F238E27FC236}">
                <a16:creationId xmlns:a16="http://schemas.microsoft.com/office/drawing/2014/main" id="{98C5E8C0-970A-552D-3B7A-A579CED39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5424" y="2046318"/>
            <a:ext cx="7153749" cy="3339498"/>
          </a:xfrm>
          <a:prstGeom prst="rect">
            <a:avLst/>
          </a:prstGeom>
        </p:spPr>
      </p:pic>
    </p:spTree>
    <p:extLst>
      <p:ext uri="{BB962C8B-B14F-4D97-AF65-F5344CB8AC3E}">
        <p14:creationId xmlns:p14="http://schemas.microsoft.com/office/powerpoint/2010/main" val="1617400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E9EB-CF76-DBED-A1ED-F8AA42777AC8}"/>
            </a:ext>
          </a:extLst>
        </p:cNvPr>
        <p:cNvGrpSpPr/>
        <p:nvPr/>
      </p:nvGrpSpPr>
      <p:grpSpPr>
        <a:xfrm>
          <a:off x="0" y="0"/>
          <a:ext cx="0" cy="0"/>
          <a:chOff x="0" y="0"/>
          <a:chExt cx="0" cy="0"/>
        </a:xfrm>
      </p:grpSpPr>
      <p:sp>
        <p:nvSpPr>
          <p:cNvPr id="2" name="Segnaposto data 1">
            <a:extLst>
              <a:ext uri="{FF2B5EF4-FFF2-40B4-BE49-F238E27FC236}">
                <a16:creationId xmlns:a16="http://schemas.microsoft.com/office/drawing/2014/main" id="{98EDE4AF-8E5A-CD0C-E808-F7E64DB82BAA}"/>
              </a:ext>
            </a:extLst>
          </p:cNvPr>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3" name="Titolo 1">
            <a:extLst>
              <a:ext uri="{FF2B5EF4-FFF2-40B4-BE49-F238E27FC236}">
                <a16:creationId xmlns:a16="http://schemas.microsoft.com/office/drawing/2014/main" id="{E361FE26-B42F-CC4D-6DEF-F8FBD6B8A614}"/>
              </a:ext>
            </a:extLst>
          </p:cNvPr>
          <p:cNvSpPr txBox="1">
            <a:spLocks/>
          </p:cNvSpPr>
          <p:nvPr/>
        </p:nvSpPr>
        <p:spPr>
          <a:xfrm>
            <a:off x="487247" y="816978"/>
            <a:ext cx="11029616" cy="675272"/>
          </a:xfrm>
          <a:prstGeom prst="rect">
            <a:avLst/>
          </a:prstGeom>
        </p:spPr>
        <p:txBody>
          <a:bodyPr lIns="91440" tIns="45720" rIns="91440" bIns="45720" anchor="t"/>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b="1" dirty="0"/>
              <a:t>Final insights</a:t>
            </a:r>
            <a:br>
              <a:rPr lang="it-IT" dirty="0"/>
            </a:br>
            <a:endParaRPr lang="it-IT" dirty="0"/>
          </a:p>
        </p:txBody>
      </p:sp>
      <p:sp>
        <p:nvSpPr>
          <p:cNvPr id="7" name="Segnaposto contenuto 2">
            <a:extLst>
              <a:ext uri="{FF2B5EF4-FFF2-40B4-BE49-F238E27FC236}">
                <a16:creationId xmlns:a16="http://schemas.microsoft.com/office/drawing/2014/main" id="{5A73C08A-DFC6-47D6-1A5B-8F6B17BE510F}"/>
              </a:ext>
            </a:extLst>
          </p:cNvPr>
          <p:cNvSpPr txBox="1">
            <a:spLocks/>
          </p:cNvSpPr>
          <p:nvPr/>
        </p:nvSpPr>
        <p:spPr>
          <a:xfrm>
            <a:off x="475430" y="1381990"/>
            <a:ext cx="11029616" cy="5081903"/>
          </a:xfrm>
          <a:prstGeom prst="rect">
            <a:avLst/>
          </a:prstGeom>
        </p:spPr>
        <p:txBody>
          <a:bodyPr lIns="91440" tIns="45720" rIns="91440" bIns="45720" anchor="t"/>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it-IT" dirty="0"/>
              <a:t>L’integrazione di </a:t>
            </a:r>
            <a:r>
              <a:rPr lang="it-IT" dirty="0" err="1"/>
              <a:t>Drillthrough</a:t>
            </a:r>
            <a:r>
              <a:rPr lang="it-IT" dirty="0"/>
              <a:t> e Bookmarks ha permesso di ottenere una lettura più completa e multistrato dei dati.</a:t>
            </a:r>
          </a:p>
          <a:p>
            <a:pPr marL="0" indent="0">
              <a:buFont typeface="Wingdings 2" panose="05020102010507070707" pitchFamily="18" charset="2"/>
              <a:buNone/>
            </a:pPr>
            <a:r>
              <a:rPr lang="it-IT" dirty="0"/>
              <a:t>Principali evidenze emerse:</a:t>
            </a:r>
          </a:p>
          <a:p>
            <a:pPr marL="0" indent="0">
              <a:buFont typeface="Wingdings 2" panose="05020102010507070707" pitchFamily="18" charset="2"/>
              <a:buNone/>
            </a:pPr>
            <a:r>
              <a:rPr lang="it-IT" dirty="0"/>
              <a:t>📌 Performance dei prodotti</a:t>
            </a:r>
          </a:p>
          <a:p>
            <a:pPr marL="0" indent="0">
              <a:buFont typeface="Wingdings 2" panose="05020102010507070707" pitchFamily="18" charset="2"/>
              <a:buNone/>
            </a:pPr>
            <a:r>
              <a:rPr lang="it-IT" dirty="0"/>
              <a:t>I prodotti di categoria Home Decor mostrano la maggior % di Profit </a:t>
            </a:r>
            <a:r>
              <a:rPr lang="it-IT" dirty="0" err="1"/>
              <a:t>Margin</a:t>
            </a:r>
            <a:r>
              <a:rPr lang="it-IT" dirty="0"/>
              <a:t>, anche se con quantità vendute inferiori.</a:t>
            </a:r>
          </a:p>
          <a:p>
            <a:pPr marL="0" indent="0">
              <a:buFont typeface="Wingdings 2" panose="05020102010507070707" pitchFamily="18" charset="2"/>
              <a:buNone/>
            </a:pPr>
            <a:r>
              <a:rPr lang="it-IT" dirty="0"/>
              <a:t>Categoria Book invece, ha una somma di vendite la più elevata, ma con margine nettamente inferiore ad Home Decor</a:t>
            </a:r>
          </a:p>
          <a:p>
            <a:pPr marL="0" indent="0">
              <a:buNone/>
            </a:pPr>
            <a:endParaRPr lang="it-IT" sz="800" dirty="0"/>
          </a:p>
          <a:p>
            <a:pPr marL="0" indent="0">
              <a:buNone/>
            </a:pPr>
            <a:r>
              <a:rPr lang="it-IT" dirty="0"/>
              <a:t>📌 Analisi delle Category per Region                                     </a:t>
            </a:r>
            <a:r>
              <a:rPr lang="it-IT" sz="1800" dirty="0">
                <a:solidFill>
                  <a:srgbClr val="000000"/>
                </a:solidFill>
              </a:rPr>
              <a:t>📌 Analisi dei Customer per </a:t>
            </a:r>
            <a:r>
              <a:rPr lang="it-IT" sz="1800" dirty="0" err="1">
                <a:solidFill>
                  <a:srgbClr val="000000"/>
                </a:solidFill>
              </a:rPr>
              <a:t>Region</a:t>
            </a:r>
            <a:endParaRPr lang="it-IT" dirty="0"/>
          </a:p>
        </p:txBody>
      </p:sp>
      <p:graphicFrame>
        <p:nvGraphicFramePr>
          <p:cNvPr id="6" name="Tabella 5">
            <a:extLst>
              <a:ext uri="{FF2B5EF4-FFF2-40B4-BE49-F238E27FC236}">
                <a16:creationId xmlns:a16="http://schemas.microsoft.com/office/drawing/2014/main" id="{284881DF-614C-C320-C76A-A4B235B1095B}"/>
              </a:ext>
            </a:extLst>
          </p:cNvPr>
          <p:cNvGraphicFramePr>
            <a:graphicFrameLocks noGrp="1"/>
          </p:cNvGraphicFramePr>
          <p:nvPr>
            <p:extLst>
              <p:ext uri="{D42A27DB-BD31-4B8C-83A1-F6EECF244321}">
                <p14:modId xmlns:p14="http://schemas.microsoft.com/office/powerpoint/2010/main" val="942412080"/>
              </p:ext>
            </p:extLst>
          </p:nvPr>
        </p:nvGraphicFramePr>
        <p:xfrm>
          <a:off x="657616" y="4196219"/>
          <a:ext cx="4790170" cy="1657237"/>
        </p:xfrm>
        <a:graphic>
          <a:graphicData uri="http://schemas.openxmlformats.org/drawingml/2006/table">
            <a:tbl>
              <a:tblPr>
                <a:tableStyleId>{5C22544A-7EE6-4342-B048-85BDC9FD1C3A}</a:tableStyleId>
              </a:tblPr>
              <a:tblGrid>
                <a:gridCol w="1085970">
                  <a:extLst>
                    <a:ext uri="{9D8B030D-6E8A-4147-A177-3AD203B41FA5}">
                      <a16:colId xmlns:a16="http://schemas.microsoft.com/office/drawing/2014/main" val="4035337242"/>
                    </a:ext>
                  </a:extLst>
                </a:gridCol>
                <a:gridCol w="966960">
                  <a:extLst>
                    <a:ext uri="{9D8B030D-6E8A-4147-A177-3AD203B41FA5}">
                      <a16:colId xmlns:a16="http://schemas.microsoft.com/office/drawing/2014/main" val="606767556"/>
                    </a:ext>
                  </a:extLst>
                </a:gridCol>
                <a:gridCol w="966960">
                  <a:extLst>
                    <a:ext uri="{9D8B030D-6E8A-4147-A177-3AD203B41FA5}">
                      <a16:colId xmlns:a16="http://schemas.microsoft.com/office/drawing/2014/main" val="1925941049"/>
                    </a:ext>
                  </a:extLst>
                </a:gridCol>
                <a:gridCol w="1770280">
                  <a:extLst>
                    <a:ext uri="{9D8B030D-6E8A-4147-A177-3AD203B41FA5}">
                      <a16:colId xmlns:a16="http://schemas.microsoft.com/office/drawing/2014/main" val="2316379440"/>
                    </a:ext>
                  </a:extLst>
                </a:gridCol>
              </a:tblGrid>
              <a:tr h="308093">
                <a:tc>
                  <a:txBody>
                    <a:bodyPr/>
                    <a:lstStyle/>
                    <a:p>
                      <a:pPr algn="l" fontAlgn="b">
                        <a:buNone/>
                      </a:pPr>
                      <a:r>
                        <a:rPr lang="en-US" sz="1100" b="1" u="none" strike="noStrike" dirty="0">
                          <a:effectLst/>
                          <a:highlight>
                            <a:srgbClr val="FFFF00"/>
                          </a:highlight>
                        </a:rPr>
                        <a:t>Region</a:t>
                      </a:r>
                      <a:endParaRPr lang="en-US" sz="1100" b="1" i="0" u="none" strike="noStrike" dirty="0">
                        <a:solidFill>
                          <a:srgbClr val="000000"/>
                        </a:solidFill>
                        <a:effectLst/>
                        <a:highlight>
                          <a:srgbClr val="FFFF00"/>
                        </a:highlight>
                        <a:latin typeface="Aptos Narrow" panose="020B0004020202020204" pitchFamily="34" charset="0"/>
                      </a:endParaRPr>
                    </a:p>
                  </a:txBody>
                  <a:tcPr marL="6350" marR="6350" marT="6350" marB="0" anchor="b"/>
                </a:tc>
                <a:tc>
                  <a:txBody>
                    <a:bodyPr/>
                    <a:lstStyle/>
                    <a:p>
                      <a:pPr algn="l" fontAlgn="b">
                        <a:buNone/>
                      </a:pPr>
                      <a:r>
                        <a:rPr lang="en-US" sz="1100" b="1" u="none" strike="noStrike">
                          <a:effectLst/>
                          <a:highlight>
                            <a:srgbClr val="FFFF00"/>
                          </a:highlight>
                        </a:rPr>
                        <a:t>Top Category</a:t>
                      </a:r>
                      <a:endParaRPr lang="en-US" sz="1100" b="1" i="0" u="none" strike="noStrike">
                        <a:solidFill>
                          <a:srgbClr val="000000"/>
                        </a:solidFill>
                        <a:effectLst/>
                        <a:highlight>
                          <a:srgbClr val="FFFF00"/>
                        </a:highlight>
                        <a:latin typeface="Aptos Narrow" panose="020B0004020202020204" pitchFamily="34" charset="0"/>
                      </a:endParaRPr>
                    </a:p>
                  </a:txBody>
                  <a:tcPr marL="6350" marR="6350" marT="6350" marB="0" anchor="b"/>
                </a:tc>
                <a:tc>
                  <a:txBody>
                    <a:bodyPr/>
                    <a:lstStyle/>
                    <a:p>
                      <a:pPr algn="l" fontAlgn="b">
                        <a:buNone/>
                      </a:pPr>
                      <a:r>
                        <a:rPr lang="en-US" sz="1100" b="1" u="none" strike="noStrike">
                          <a:effectLst/>
                          <a:highlight>
                            <a:srgbClr val="FFFF00"/>
                          </a:highlight>
                        </a:rPr>
                        <a:t>Profit Margin</a:t>
                      </a:r>
                      <a:endParaRPr lang="en-US" sz="1100" b="1" i="0" u="none" strike="noStrike">
                        <a:solidFill>
                          <a:srgbClr val="000000"/>
                        </a:solidFill>
                        <a:effectLst/>
                        <a:highlight>
                          <a:srgbClr val="FFFF00"/>
                        </a:highlight>
                        <a:latin typeface="Aptos Narrow" panose="020B0004020202020204" pitchFamily="34" charset="0"/>
                      </a:endParaRPr>
                    </a:p>
                  </a:txBody>
                  <a:tcPr marL="6350" marR="6350" marT="6350" marB="0" anchor="b"/>
                </a:tc>
                <a:tc>
                  <a:txBody>
                    <a:bodyPr/>
                    <a:lstStyle/>
                    <a:p>
                      <a:pPr algn="l" fontAlgn="b">
                        <a:buNone/>
                      </a:pPr>
                      <a:r>
                        <a:rPr lang="en-US" sz="1100" b="1" u="none" strike="noStrike" dirty="0">
                          <a:effectLst/>
                          <a:highlight>
                            <a:srgbClr val="FFFF00"/>
                          </a:highlight>
                        </a:rPr>
                        <a:t>Top Product Name</a:t>
                      </a:r>
                      <a:endParaRPr lang="en-US" sz="1100" b="1" i="0" u="none" strike="noStrike" dirty="0">
                        <a:solidFill>
                          <a:srgbClr val="000000"/>
                        </a:solidFill>
                        <a:effectLst/>
                        <a:highlight>
                          <a:srgbClr val="FFFF00"/>
                        </a:highlight>
                        <a:latin typeface="Aptos Narrow" panose="020B0004020202020204" pitchFamily="34" charset="0"/>
                      </a:endParaRPr>
                    </a:p>
                  </a:txBody>
                  <a:tcPr marL="6350" marR="6350" marT="6350" marB="0" anchor="b"/>
                </a:tc>
                <a:extLst>
                  <a:ext uri="{0D108BD9-81ED-4DB2-BD59-A6C34878D82A}">
                    <a16:rowId xmlns:a16="http://schemas.microsoft.com/office/drawing/2014/main" val="363567044"/>
                  </a:ext>
                </a:extLst>
              </a:tr>
              <a:tr h="333767">
                <a:tc>
                  <a:txBody>
                    <a:bodyPr/>
                    <a:lstStyle/>
                    <a:p>
                      <a:pPr algn="l" fontAlgn="b">
                        <a:buNone/>
                      </a:pPr>
                      <a:r>
                        <a:rPr lang="en-US" sz="1100" u="none" strike="noStrike">
                          <a:effectLst/>
                        </a:rPr>
                        <a:t>Asia</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Home Décor</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1100" u="none" strike="noStrike">
                          <a:effectLst/>
                        </a:rPr>
                        <a:t>42,06%</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dirty="0" err="1">
                          <a:effectLst/>
                        </a:rPr>
                        <a:t>ComfortLiving</a:t>
                      </a:r>
                      <a:r>
                        <a:rPr lang="en-US" sz="1100" u="none" strike="noStrike" dirty="0">
                          <a:effectLst/>
                        </a:rPr>
                        <a:t> Rug</a:t>
                      </a:r>
                      <a:endParaRPr lang="en-US"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52827547"/>
                  </a:ext>
                </a:extLst>
              </a:tr>
              <a:tr h="322169">
                <a:tc>
                  <a:txBody>
                    <a:bodyPr/>
                    <a:lstStyle/>
                    <a:p>
                      <a:pPr algn="l" fontAlgn="b">
                        <a:buNone/>
                      </a:pPr>
                      <a:r>
                        <a:rPr lang="en-US" sz="1100" u="none" strike="noStrike">
                          <a:effectLst/>
                        </a:rPr>
                        <a:t>Europe</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Home Décor</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1100" u="none" strike="noStrike">
                          <a:effectLst/>
                        </a:rPr>
                        <a:t>42,24%</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ComfortLiving Desk Lamp</a:t>
                      </a:r>
                      <a:endParaRPr lang="en-US"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40674304"/>
                  </a:ext>
                </a:extLst>
              </a:tr>
              <a:tr h="333767">
                <a:tc>
                  <a:txBody>
                    <a:bodyPr/>
                    <a:lstStyle/>
                    <a:p>
                      <a:pPr algn="l" fontAlgn="b">
                        <a:buNone/>
                      </a:pPr>
                      <a:r>
                        <a:rPr lang="en-US" sz="1100" u="none" strike="noStrike">
                          <a:effectLst/>
                        </a:rPr>
                        <a:t>North America</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Home Décor</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1100" u="none" strike="noStrike">
                          <a:effectLst/>
                        </a:rPr>
                        <a:t>45,75%</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ComfortLiving Rug</a:t>
                      </a:r>
                      <a:endParaRPr lang="en-US"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05958232"/>
                  </a:ext>
                </a:extLst>
              </a:tr>
              <a:tr h="359441">
                <a:tc>
                  <a:txBody>
                    <a:bodyPr/>
                    <a:lstStyle/>
                    <a:p>
                      <a:pPr algn="l" fontAlgn="b">
                        <a:buNone/>
                      </a:pPr>
                      <a:r>
                        <a:rPr lang="en-US" sz="1100" u="none" strike="noStrike" dirty="0">
                          <a:effectLst/>
                        </a:rPr>
                        <a:t>South America</a:t>
                      </a:r>
                      <a:endParaRPr lang="en-US"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a:effectLst/>
                        </a:rPr>
                        <a:t>Home Décor</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US" sz="1100" u="none" strike="noStrike">
                          <a:effectLst/>
                        </a:rPr>
                        <a:t>45,75%</a:t>
                      </a:r>
                      <a:endParaRPr lang="en-US"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100" u="none" strike="noStrike" dirty="0" err="1">
                          <a:effectLst/>
                        </a:rPr>
                        <a:t>ComfortLiving</a:t>
                      </a:r>
                      <a:r>
                        <a:rPr lang="en-US" sz="1100" u="none" strike="noStrike" dirty="0">
                          <a:effectLst/>
                        </a:rPr>
                        <a:t> Rug</a:t>
                      </a:r>
                      <a:endParaRPr lang="en-US"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248021839"/>
                  </a:ext>
                </a:extLst>
              </a:tr>
            </a:tbl>
          </a:graphicData>
        </a:graphic>
      </p:graphicFrame>
      <p:pic>
        <p:nvPicPr>
          <p:cNvPr id="10" name="Immagine 9">
            <a:extLst>
              <a:ext uri="{FF2B5EF4-FFF2-40B4-BE49-F238E27FC236}">
                <a16:creationId xmlns:a16="http://schemas.microsoft.com/office/drawing/2014/main" id="{565E97ED-10DF-3F7D-FD5C-4676B0801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5517" y="4198220"/>
            <a:ext cx="4489600" cy="1641479"/>
          </a:xfrm>
          <a:prstGeom prst="rect">
            <a:avLst/>
          </a:prstGeom>
        </p:spPr>
      </p:pic>
    </p:spTree>
    <p:extLst>
      <p:ext uri="{BB962C8B-B14F-4D97-AF65-F5344CB8AC3E}">
        <p14:creationId xmlns:p14="http://schemas.microsoft.com/office/powerpoint/2010/main" val="2164376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BE78477-A25E-236A-2E5F-49FB4B89BF8A}"/>
              </a:ext>
            </a:extLst>
          </p:cNvPr>
          <p:cNvSpPr>
            <a:spLocks noGrp="1"/>
          </p:cNvSpPr>
          <p:nvPr>
            <p:ph type="dt" sz="half" idx="10"/>
          </p:nvPr>
        </p:nvSpPr>
        <p:spPr/>
        <p:txBody>
          <a:bodyPr/>
          <a:lstStyle/>
          <a:p>
            <a:pPr rtl="0"/>
            <a:fld id="{60ACBBB0-50A8-412C-AC83-6C1A96035CC9}" type="datetime1">
              <a:rPr lang="it-IT" smtClean="0"/>
              <a:pPr rtl="0"/>
              <a:t>21/03/2026</a:t>
            </a:fld>
            <a:endParaRPr lang="en-US"/>
          </a:p>
        </p:txBody>
      </p:sp>
      <p:sp>
        <p:nvSpPr>
          <p:cNvPr id="4" name="Titolo 1">
            <a:extLst>
              <a:ext uri="{FF2B5EF4-FFF2-40B4-BE49-F238E27FC236}">
                <a16:creationId xmlns:a16="http://schemas.microsoft.com/office/drawing/2014/main" id="{F1A304A8-A4EE-1DD1-9E34-762BCE660B94}"/>
              </a:ext>
            </a:extLst>
          </p:cNvPr>
          <p:cNvSpPr txBox="1">
            <a:spLocks/>
          </p:cNvSpPr>
          <p:nvPr/>
        </p:nvSpPr>
        <p:spPr>
          <a:xfrm>
            <a:off x="1783842" y="2763439"/>
            <a:ext cx="8618356" cy="675272"/>
          </a:xfrm>
          <a:prstGeom prst="rect">
            <a:avLst/>
          </a:prstGeom>
        </p:spPr>
        <p:txBody>
          <a:bodyPr lIns="91440" tIns="45720" rIns="91440" bIns="45720" anchor="t"/>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5400" b="1" dirty="0"/>
              <a:t>Grazie per </a:t>
            </a:r>
            <a:r>
              <a:rPr lang="en-GB" sz="5400" b="1" dirty="0" err="1"/>
              <a:t>l’attenzione</a:t>
            </a:r>
            <a:r>
              <a:rPr lang="en-GB" sz="5400" b="1" dirty="0"/>
              <a:t>!</a:t>
            </a:r>
            <a:endParaRPr lang="en-US" sz="5400" dirty="0"/>
          </a:p>
          <a:p>
            <a:br>
              <a:rPr lang="it-IT" sz="2400" dirty="0"/>
            </a:br>
            <a:endParaRPr lang="it-IT" sz="2400" dirty="0"/>
          </a:p>
        </p:txBody>
      </p:sp>
    </p:spTree>
    <p:extLst>
      <p:ext uri="{BB962C8B-B14F-4D97-AF65-F5344CB8AC3E}">
        <p14:creationId xmlns:p14="http://schemas.microsoft.com/office/powerpoint/2010/main" val="188686669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863_TF33552983" id="{792024A4-83F0-453F-A4BD-1CB3E5CCBFB1}" vid="{E95525AB-6E82-4195-972A-6448D521CC33}"/>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ada0a2f-b917-4d51-b0d0-d418a10c8b23}" enabled="1" method="Standard" siteId="{12a3af23-a769-4654-847f-958f3d479f4a}" removed="0"/>
</clbl:labelList>
</file>

<file path=docProps/app.xml><?xml version="1.0" encoding="utf-8"?>
<Properties xmlns="http://schemas.openxmlformats.org/officeDocument/2006/extended-properties" xmlns:vt="http://schemas.openxmlformats.org/officeDocument/2006/docPropsVTypes">
  <Template>{CBF281BD-1EEB-414A-B743-5C93FDBE7F23}tf33552983_win32</Template>
  <TotalTime>473</TotalTime>
  <Words>1567</Words>
  <Application>Microsoft Office PowerPoint</Application>
  <PresentationFormat>Widescreen</PresentationFormat>
  <Paragraphs>190</Paragraphs>
  <Slides>21</Slides>
  <Notes>1</Notes>
  <HiddenSlides>0</HiddenSlides>
  <MMClips>0</MMClips>
  <ScaleCrop>false</ScaleCrop>
  <HeadingPairs>
    <vt:vector size="4" baseType="variant">
      <vt:variant>
        <vt:lpstr>Tema</vt:lpstr>
      </vt:variant>
      <vt:variant>
        <vt:i4>1</vt:i4>
      </vt:variant>
      <vt:variant>
        <vt:lpstr>Titoli diapositive</vt:lpstr>
      </vt:variant>
      <vt:variant>
        <vt:i4>21</vt:i4>
      </vt:variant>
    </vt:vector>
  </HeadingPairs>
  <TitlesOfParts>
    <vt:vector size="22" baseType="lpstr">
      <vt:lpstr>DividendVTI</vt:lpstr>
      <vt:lpstr>Relazione Tecnica project work – DATA ANALYST 8</vt:lpstr>
      <vt:lpstr>GRUPPO A</vt:lpstr>
      <vt:lpstr>Fase 1 - Data Preparation </vt:lpstr>
      <vt:lpstr>Presentazione standard di PowerPoint</vt:lpstr>
      <vt:lpstr>Presentazione standard di PowerPoint</vt:lpstr>
      <vt:lpstr>Fase 2 - Data modeling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Relazione Tecnica project work – DATA ANALYST 8</dc:title>
  <dc:creator>Hp 255</dc:creator>
  <cp:lastModifiedBy>Merli,Marianna,IT-Assago</cp:lastModifiedBy>
  <cp:revision>1558</cp:revision>
  <dcterms:created xsi:type="dcterms:W3CDTF">2026-03-11T18:54:33Z</dcterms:created>
  <dcterms:modified xsi:type="dcterms:W3CDTF">2026-03-21T20:30:32Z</dcterms:modified>
</cp:coreProperties>
</file>